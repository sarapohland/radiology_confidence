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4"/>
  </p:sldMasterIdLst>
  <p:notesMasterIdLst>
    <p:notesMasterId r:id="rId32"/>
  </p:notesMasterIdLst>
  <p:sldIdLst>
    <p:sldId id="4572" r:id="rId5"/>
    <p:sldId id="4585" r:id="rId6"/>
    <p:sldId id="4591" r:id="rId7"/>
    <p:sldId id="4592" r:id="rId8"/>
    <p:sldId id="4573" r:id="rId9"/>
    <p:sldId id="4574" r:id="rId10"/>
    <p:sldId id="4575" r:id="rId11"/>
    <p:sldId id="4576" r:id="rId12"/>
    <p:sldId id="4577" r:id="rId13"/>
    <p:sldId id="4580" r:id="rId14"/>
    <p:sldId id="4581" r:id="rId15"/>
    <p:sldId id="4582" r:id="rId16"/>
    <p:sldId id="4583" r:id="rId17"/>
    <p:sldId id="4586" r:id="rId18"/>
    <p:sldId id="4584" r:id="rId19"/>
    <p:sldId id="4587" r:id="rId20"/>
    <p:sldId id="4588" r:id="rId21"/>
    <p:sldId id="4589" r:id="rId22"/>
    <p:sldId id="4590" r:id="rId23"/>
    <p:sldId id="4593" r:id="rId24"/>
    <p:sldId id="4594" r:id="rId25"/>
    <p:sldId id="4601" r:id="rId26"/>
    <p:sldId id="4595" r:id="rId27"/>
    <p:sldId id="4596" r:id="rId28"/>
    <p:sldId id="4597" r:id="rId29"/>
    <p:sldId id="4598" r:id="rId30"/>
    <p:sldId id="4599"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71F72A-AD35-008A-0071-72BA93078D5C}" name="Joseph Gonzalez" initials="JG" userId="S::jegonzal@BERKELEY.EDU::11b83800-80ae-4019-a754-e37981ea00b6" providerId="AD"/>
  <p188:author id="{096AC94B-F497-4EFD-5582-3384C9AC4587}" name="Narges Norouzi" initials="" userId="S::norouzi@BERKELEY.EDU::9f8e1a45-5bbf-4e9e-9184-8e17f4a6ab5f" providerId="AD"/>
  <p188:author id="{6AB9C582-8033-83C4-E8FF-9269ABEF1518}" name="Sara Pohland" initials="SP" userId="S::spohland@BERKELEY.EDU::cbb1d9a8-68f2-4714-8f35-e2218acd68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BCDD6"/>
    <a:srgbClr val="0F9ED5"/>
    <a:srgbClr val="4EA72E"/>
    <a:srgbClr val="000000"/>
    <a:srgbClr val="8172B3"/>
    <a:srgbClr val="55A868"/>
    <a:srgbClr val="D8D1CB"/>
    <a:srgbClr val="F88008"/>
    <a:srgbClr val="CD6BA4"/>
    <a:srgbClr val="0288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890"/>
    <p:restoredTop sz="95617"/>
  </p:normalViewPr>
  <p:slideViewPr>
    <p:cSldViewPr snapToGrid="0">
      <p:cViewPr varScale="1">
        <p:scale>
          <a:sx n="92" d="100"/>
          <a:sy n="92" d="100"/>
        </p:scale>
        <p:origin x="184" y="53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FCD12-C1E0-9243-A62E-F0E4F804B16A}" type="datetimeFigureOut">
              <a:rPr lang="en-US" smtClean="0"/>
              <a:t>4/5/26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68409E-CD63-CB4F-9F22-B975676AEEA0}" type="slidenum">
              <a:rPr lang="en-US" smtClean="0"/>
              <a:t>‹#›</a:t>
            </a:fld>
            <a:endParaRPr lang="en-US"/>
          </a:p>
        </p:txBody>
      </p:sp>
    </p:spTree>
    <p:extLst>
      <p:ext uri="{BB962C8B-B14F-4D97-AF65-F5344CB8AC3E}">
        <p14:creationId xmlns:p14="http://schemas.microsoft.com/office/powerpoint/2010/main" val="3989357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51-52min</a:t>
            </a:r>
          </a:p>
          <a:p>
            <a:r>
              <a:rPr lang="en-US" dirty="0"/>
              <a:t>Intro: 4.5min</a:t>
            </a:r>
          </a:p>
          <a:p>
            <a:r>
              <a:rPr lang="en-US" dirty="0"/>
              <a:t>PaRCE: 7min</a:t>
            </a:r>
          </a:p>
          <a:p>
            <a:r>
              <a:rPr lang="en-US" dirty="0"/>
              <a:t>Saliency: 9.5-10min</a:t>
            </a:r>
          </a:p>
          <a:p>
            <a:r>
              <a:rPr lang="en-US" dirty="0"/>
              <a:t>Counterfactual: 10min</a:t>
            </a:r>
          </a:p>
          <a:p>
            <a:r>
              <a:rPr lang="en-US" dirty="0"/>
              <a:t>Nav: 7.5-8min</a:t>
            </a:r>
          </a:p>
          <a:p>
            <a:r>
              <a:rPr lang="en-US" dirty="0"/>
              <a:t>Design: 10min</a:t>
            </a:r>
          </a:p>
          <a:p>
            <a:r>
              <a:rPr lang="en-US" dirty="0"/>
              <a:t>Conclusions:  2.5min</a:t>
            </a:r>
          </a:p>
        </p:txBody>
      </p:sp>
      <p:sp>
        <p:nvSpPr>
          <p:cNvPr id="4" name="Slide Number Placeholder 3"/>
          <p:cNvSpPr>
            <a:spLocks noGrp="1"/>
          </p:cNvSpPr>
          <p:nvPr>
            <p:ph type="sldNum" sz="quarter" idx="5"/>
          </p:nvPr>
        </p:nvSpPr>
        <p:spPr/>
        <p:txBody>
          <a:bodyPr/>
          <a:lstStyle/>
          <a:p>
            <a:fld id="{8068409E-CD63-CB4F-9F22-B975676AEEA0}" type="slidenum">
              <a:rPr lang="en-US" smtClean="0"/>
              <a:t>1</a:t>
            </a:fld>
            <a:endParaRPr lang="en-US"/>
          </a:p>
        </p:txBody>
      </p:sp>
    </p:spTree>
    <p:extLst>
      <p:ext uri="{BB962C8B-B14F-4D97-AF65-F5344CB8AC3E}">
        <p14:creationId xmlns:p14="http://schemas.microsoft.com/office/powerpoint/2010/main" val="3750632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98E0A55-7998-00FF-F7C0-FDF81AB27D64}"/>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5" name="Footer Placeholder 4">
            <a:extLst>
              <a:ext uri="{FF2B5EF4-FFF2-40B4-BE49-F238E27FC236}">
                <a16:creationId xmlns:a16="http://schemas.microsoft.com/office/drawing/2014/main" id="{43849381-942E-F6E2-1EBD-3BB4A7BB29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BF284-81D8-19B7-9BA7-8F9E4A1DA75E}"/>
              </a:ext>
            </a:extLst>
          </p:cNvPr>
          <p:cNvSpPr>
            <a:spLocks noGrp="1"/>
          </p:cNvSpPr>
          <p:nvPr>
            <p:ph type="sldNum" sz="quarter" idx="12"/>
          </p:nvPr>
        </p:nvSpPr>
        <p:spPr/>
        <p:txBody>
          <a:bodyPr/>
          <a:lstStyle/>
          <a:p>
            <a:fld id="{57F00127-D174-8342-BE7B-47BD4EF0A99B}" type="slidenum">
              <a:rPr lang="en-US" smtClean="0"/>
              <a:t>‹#›</a:t>
            </a:fld>
            <a:endParaRPr lang="en-US"/>
          </a:p>
        </p:txBody>
      </p:sp>
      <p:sp>
        <p:nvSpPr>
          <p:cNvPr id="7" name="Title 1">
            <a:extLst>
              <a:ext uri="{FF2B5EF4-FFF2-40B4-BE49-F238E27FC236}">
                <a16:creationId xmlns:a16="http://schemas.microsoft.com/office/drawing/2014/main" id="{8B09CF68-5EA9-58C3-1615-E7ED5142A204}"/>
              </a:ext>
            </a:extLst>
          </p:cNvPr>
          <p:cNvSpPr>
            <a:spLocks noGrp="1"/>
          </p:cNvSpPr>
          <p:nvPr>
            <p:ph type="ctrTitle" hasCustomPrompt="1"/>
          </p:nvPr>
        </p:nvSpPr>
        <p:spPr>
          <a:xfrm>
            <a:off x="538645" y="1832964"/>
            <a:ext cx="10515601" cy="2387600"/>
          </a:xfrm>
        </p:spPr>
        <p:txBody>
          <a:bodyPr anchor="ctr"/>
          <a:lstStyle>
            <a:lvl1pPr algn="l">
              <a:defRPr sz="5999">
                <a:solidFill>
                  <a:schemeClr val="accent1"/>
                </a:solidFill>
              </a:defRPr>
            </a:lvl1pPr>
          </a:lstStyle>
          <a:p>
            <a:r>
              <a:rPr lang="en-US" dirty="0"/>
              <a:t>Title</a:t>
            </a:r>
          </a:p>
        </p:txBody>
      </p:sp>
      <p:sp>
        <p:nvSpPr>
          <p:cNvPr id="8" name="Subtitle 2">
            <a:extLst>
              <a:ext uri="{FF2B5EF4-FFF2-40B4-BE49-F238E27FC236}">
                <a16:creationId xmlns:a16="http://schemas.microsoft.com/office/drawing/2014/main" id="{C85C3985-6E75-9EE7-0E2F-009220A26E18}"/>
              </a:ext>
            </a:extLst>
          </p:cNvPr>
          <p:cNvSpPr>
            <a:spLocks noGrp="1"/>
          </p:cNvSpPr>
          <p:nvPr>
            <p:ph type="subTitle" idx="1" hasCustomPrompt="1"/>
          </p:nvPr>
        </p:nvSpPr>
        <p:spPr>
          <a:xfrm>
            <a:off x="538645" y="1086749"/>
            <a:ext cx="11653355" cy="665252"/>
          </a:xfr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anchor="ctr"/>
          <a:lstStyle>
            <a:lvl1pPr marL="0" indent="0" algn="l">
              <a:buNone/>
              <a:defRPr sz="2399">
                <a:solidFill>
                  <a:schemeClr val="accent2"/>
                </a:solidFill>
              </a:defRPr>
            </a:lvl1pPr>
            <a:lvl2pPr marL="457181" indent="0" algn="ctr">
              <a:buNone/>
              <a:defRPr sz="1999"/>
            </a:lvl2pPr>
            <a:lvl3pPr marL="914361" indent="0" algn="ctr">
              <a:buNone/>
              <a:defRPr sz="1799"/>
            </a:lvl3pPr>
            <a:lvl4pPr marL="1371542" indent="0" algn="ctr">
              <a:buNone/>
              <a:defRPr sz="1601"/>
            </a:lvl4pPr>
            <a:lvl5pPr marL="1828721" indent="0" algn="ctr">
              <a:buNone/>
              <a:defRPr sz="1601"/>
            </a:lvl5pPr>
            <a:lvl6pPr marL="2285902" indent="0" algn="ctr">
              <a:buNone/>
              <a:defRPr sz="1601"/>
            </a:lvl6pPr>
            <a:lvl7pPr marL="2743083" indent="0" algn="ctr">
              <a:buNone/>
              <a:defRPr sz="1601"/>
            </a:lvl7pPr>
            <a:lvl8pPr marL="3200264" indent="0" algn="ctr">
              <a:buNone/>
              <a:defRPr sz="1601"/>
            </a:lvl8pPr>
            <a:lvl9pPr marL="3657444" indent="0" algn="ctr">
              <a:buNone/>
              <a:defRPr sz="1601"/>
            </a:lvl9pPr>
          </a:lstStyle>
          <a:p>
            <a:r>
              <a:rPr lang="en-US" dirty="0"/>
              <a:t>Discussion Mini Lecture N</a:t>
            </a:r>
          </a:p>
        </p:txBody>
      </p:sp>
      <p:sp>
        <p:nvSpPr>
          <p:cNvPr id="9" name="Text Placeholder 9">
            <a:extLst>
              <a:ext uri="{FF2B5EF4-FFF2-40B4-BE49-F238E27FC236}">
                <a16:creationId xmlns:a16="http://schemas.microsoft.com/office/drawing/2014/main" id="{5C392481-B1EE-EB04-B061-D01F220E0F56}"/>
              </a:ext>
            </a:extLst>
          </p:cNvPr>
          <p:cNvSpPr>
            <a:spLocks noGrp="1"/>
          </p:cNvSpPr>
          <p:nvPr>
            <p:ph type="body" sz="quarter" idx="13" hasCustomPrompt="1"/>
          </p:nvPr>
        </p:nvSpPr>
        <p:spPr>
          <a:xfrm>
            <a:off x="538163" y="4367213"/>
            <a:ext cx="10515601" cy="646112"/>
          </a:xfrm>
        </p:spPr>
        <p:txBody>
          <a:bodyPr>
            <a:normAutofit/>
          </a:bodyPr>
          <a:lstStyle>
            <a:lvl1pPr marL="0" indent="0">
              <a:buNone/>
              <a:defRPr sz="2399">
                <a:solidFill>
                  <a:schemeClr val="tx1">
                    <a:lumMod val="65000"/>
                    <a:lumOff val="35000"/>
                  </a:schemeClr>
                </a:solidFill>
              </a:defRPr>
            </a:lvl1pPr>
          </a:lstStyle>
          <a:p>
            <a:pPr lvl="0"/>
            <a:r>
              <a:rPr lang="en-US" dirty="0"/>
              <a:t>Subtitle</a:t>
            </a:r>
          </a:p>
        </p:txBody>
      </p:sp>
      <p:sp>
        <p:nvSpPr>
          <p:cNvPr id="2" name="Text Placeholder 7">
            <a:extLst>
              <a:ext uri="{FF2B5EF4-FFF2-40B4-BE49-F238E27FC236}">
                <a16:creationId xmlns:a16="http://schemas.microsoft.com/office/drawing/2014/main" id="{36A58812-AB9D-678D-3F90-7889DA88A91E}"/>
              </a:ext>
            </a:extLst>
          </p:cNvPr>
          <p:cNvSpPr>
            <a:spLocks noGrp="1"/>
          </p:cNvSpPr>
          <p:nvPr>
            <p:ph type="body" sz="quarter" idx="14" hasCustomPrompt="1"/>
          </p:nvPr>
        </p:nvSpPr>
        <p:spPr>
          <a:xfrm>
            <a:off x="538163" y="5285146"/>
            <a:ext cx="10545762" cy="486105"/>
          </a:xfrm>
        </p:spPr>
        <p:txBody>
          <a:bodyPr>
            <a:noAutofit/>
          </a:bodyPr>
          <a:lstStyle>
            <a:lvl1pPr marL="0" indent="0" rtl="0">
              <a:buNone/>
              <a:defRPr sz="1999" b="0"/>
            </a:lvl1pPr>
          </a:lstStyle>
          <a:p>
            <a:pPr rtl="0"/>
            <a:r>
              <a:rPr lang="en-US" sz="2000" b="1" i="0" u="none" strike="noStrike" kern="1200" dirty="0">
                <a:solidFill>
                  <a:schemeClr val="tx1"/>
                </a:solidFill>
                <a:effectLst/>
                <a:latin typeface="+mn-lt"/>
                <a:ea typeface="+mn-ea"/>
                <a:cs typeface="+mn-cs"/>
              </a:rPr>
              <a:t>CS 189/289A, Fall 2025 @ UC Berkeley</a:t>
            </a:r>
            <a:endParaRPr lang="en-US" sz="2000" b="1" dirty="0">
              <a:effectLst/>
            </a:endParaRPr>
          </a:p>
        </p:txBody>
      </p:sp>
      <p:sp>
        <p:nvSpPr>
          <p:cNvPr id="13" name="Text Placeholder 7">
            <a:extLst>
              <a:ext uri="{FF2B5EF4-FFF2-40B4-BE49-F238E27FC236}">
                <a16:creationId xmlns:a16="http://schemas.microsoft.com/office/drawing/2014/main" id="{FBD88D63-8222-8AAC-CA83-6725B8C4ED2D}"/>
              </a:ext>
            </a:extLst>
          </p:cNvPr>
          <p:cNvSpPr>
            <a:spLocks noGrp="1"/>
          </p:cNvSpPr>
          <p:nvPr>
            <p:ph type="body" sz="quarter" idx="15" hasCustomPrompt="1"/>
          </p:nvPr>
        </p:nvSpPr>
        <p:spPr>
          <a:xfrm>
            <a:off x="538163" y="5757928"/>
            <a:ext cx="10545762" cy="486105"/>
          </a:xfrm>
        </p:spPr>
        <p:txBody>
          <a:bodyPr>
            <a:noAutofit/>
          </a:bodyPr>
          <a:lstStyle>
            <a:lvl1pPr marL="0" indent="0" rtl="0">
              <a:buNone/>
              <a:defRPr sz="1800" b="0"/>
            </a:lvl1pPr>
          </a:lstStyle>
          <a:p>
            <a:pPr rtl="0"/>
            <a:r>
              <a:rPr lang="en-US" sz="2000" b="0" i="0" u="none" strike="noStrike" kern="1200" dirty="0">
                <a:solidFill>
                  <a:schemeClr val="tx1"/>
                </a:solidFill>
                <a:effectLst/>
                <a:latin typeface="+mn-lt"/>
                <a:ea typeface="+mn-ea"/>
                <a:cs typeface="+mn-cs"/>
              </a:rPr>
              <a:t>Sara Pohland</a:t>
            </a:r>
            <a:endParaRPr lang="en-US" sz="2000" dirty="0"/>
          </a:p>
        </p:txBody>
      </p:sp>
    </p:spTree>
    <p:extLst>
      <p:ext uri="{BB962C8B-B14F-4D97-AF65-F5344CB8AC3E}">
        <p14:creationId xmlns:p14="http://schemas.microsoft.com/office/powerpoint/2010/main" val="327097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9FD3-580D-D9C5-AE31-04B2E666E622}"/>
              </a:ext>
            </a:extLst>
          </p:cNvPr>
          <p:cNvSpPr>
            <a:spLocks noGrp="1"/>
          </p:cNvSpPr>
          <p:nvPr>
            <p:ph type="ctrTitle" hasCustomPrompt="1"/>
          </p:nvPr>
        </p:nvSpPr>
        <p:spPr>
          <a:xfrm>
            <a:off x="538645" y="1832964"/>
            <a:ext cx="10515601" cy="2387600"/>
          </a:xfrm>
        </p:spPr>
        <p:txBody>
          <a:bodyPr anchor="ctr"/>
          <a:lstStyle>
            <a:lvl1pPr algn="l">
              <a:defRPr sz="5999">
                <a:solidFill>
                  <a:schemeClr val="accent1"/>
                </a:solidFill>
              </a:defRPr>
            </a:lvl1pPr>
          </a:lstStyle>
          <a:p>
            <a:r>
              <a:rPr lang="en-US" dirty="0"/>
              <a:t>Title</a:t>
            </a:r>
          </a:p>
        </p:txBody>
      </p:sp>
      <p:sp>
        <p:nvSpPr>
          <p:cNvPr id="3" name="Subtitle 2">
            <a:extLst>
              <a:ext uri="{FF2B5EF4-FFF2-40B4-BE49-F238E27FC236}">
                <a16:creationId xmlns:a16="http://schemas.microsoft.com/office/drawing/2014/main" id="{AA64C9DC-D162-6CE4-B2CF-63FEE60CDCCE}"/>
              </a:ext>
            </a:extLst>
          </p:cNvPr>
          <p:cNvSpPr>
            <a:spLocks noGrp="1"/>
          </p:cNvSpPr>
          <p:nvPr>
            <p:ph type="subTitle" idx="1" hasCustomPrompt="1"/>
          </p:nvPr>
        </p:nvSpPr>
        <p:spPr>
          <a:xfrm>
            <a:off x="538645" y="1086749"/>
            <a:ext cx="11653355" cy="665252"/>
          </a:xfr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anchor="ctr"/>
          <a:lstStyle>
            <a:lvl1pPr marL="0" indent="0" algn="l">
              <a:buNone/>
              <a:defRPr sz="2399">
                <a:solidFill>
                  <a:schemeClr val="accent2"/>
                </a:solidFill>
              </a:defRPr>
            </a:lvl1pPr>
            <a:lvl2pPr marL="457181" indent="0" algn="ctr">
              <a:buNone/>
              <a:defRPr sz="1999"/>
            </a:lvl2pPr>
            <a:lvl3pPr marL="914361" indent="0" algn="ctr">
              <a:buNone/>
              <a:defRPr sz="1799"/>
            </a:lvl3pPr>
            <a:lvl4pPr marL="1371542" indent="0" algn="ctr">
              <a:buNone/>
              <a:defRPr sz="1601"/>
            </a:lvl4pPr>
            <a:lvl5pPr marL="1828721" indent="0" algn="ctr">
              <a:buNone/>
              <a:defRPr sz="1601"/>
            </a:lvl5pPr>
            <a:lvl6pPr marL="2285902" indent="0" algn="ctr">
              <a:buNone/>
              <a:defRPr sz="1601"/>
            </a:lvl6pPr>
            <a:lvl7pPr marL="2743083" indent="0" algn="ctr">
              <a:buNone/>
              <a:defRPr sz="1601"/>
            </a:lvl7pPr>
            <a:lvl8pPr marL="3200264" indent="0" algn="ctr">
              <a:buNone/>
              <a:defRPr sz="1601"/>
            </a:lvl8pPr>
            <a:lvl9pPr marL="3657444" indent="0" algn="ctr">
              <a:buNone/>
              <a:defRPr sz="1601"/>
            </a:lvl9pPr>
          </a:lstStyle>
          <a:p>
            <a:r>
              <a:rPr lang="en-US" dirty="0"/>
              <a:t>Discussion Mini Lecture N</a:t>
            </a:r>
          </a:p>
        </p:txBody>
      </p:sp>
      <p:sp>
        <p:nvSpPr>
          <p:cNvPr id="4" name="Date Placeholder 3">
            <a:extLst>
              <a:ext uri="{FF2B5EF4-FFF2-40B4-BE49-F238E27FC236}">
                <a16:creationId xmlns:a16="http://schemas.microsoft.com/office/drawing/2014/main" id="{B98E0A55-7998-00FF-F7C0-FDF81AB27D64}"/>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5" name="Footer Placeholder 4">
            <a:extLst>
              <a:ext uri="{FF2B5EF4-FFF2-40B4-BE49-F238E27FC236}">
                <a16:creationId xmlns:a16="http://schemas.microsoft.com/office/drawing/2014/main" id="{43849381-942E-F6E2-1EBD-3BB4A7BB29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BF284-81D8-19B7-9BA7-8F9E4A1DA75E}"/>
              </a:ext>
            </a:extLst>
          </p:cNvPr>
          <p:cNvSpPr>
            <a:spLocks noGrp="1"/>
          </p:cNvSpPr>
          <p:nvPr>
            <p:ph type="sldNum" sz="quarter" idx="12"/>
          </p:nvPr>
        </p:nvSpPr>
        <p:spPr/>
        <p:txBody>
          <a:bodyPr/>
          <a:lstStyle/>
          <a:p>
            <a:fld id="{57F00127-D174-8342-BE7B-47BD4EF0A99B}" type="slidenum">
              <a:rPr lang="en-US" smtClean="0"/>
              <a:t>‹#›</a:t>
            </a:fld>
            <a:endParaRPr lang="en-US"/>
          </a:p>
        </p:txBody>
      </p:sp>
      <p:sp>
        <p:nvSpPr>
          <p:cNvPr id="7" name="Text Placeholder 7">
            <a:extLst>
              <a:ext uri="{FF2B5EF4-FFF2-40B4-BE49-F238E27FC236}">
                <a16:creationId xmlns:a16="http://schemas.microsoft.com/office/drawing/2014/main" id="{6C3BB98B-D060-769F-7FA7-C0CC1D24F0F2}"/>
              </a:ext>
            </a:extLst>
          </p:cNvPr>
          <p:cNvSpPr>
            <a:spLocks noGrp="1"/>
          </p:cNvSpPr>
          <p:nvPr>
            <p:ph type="body" sz="quarter" idx="13" hasCustomPrompt="1"/>
          </p:nvPr>
        </p:nvSpPr>
        <p:spPr>
          <a:xfrm>
            <a:off x="538646" y="4549112"/>
            <a:ext cx="10545762" cy="556888"/>
          </a:xfrm>
        </p:spPr>
        <p:txBody>
          <a:bodyPr>
            <a:noAutofit/>
          </a:bodyPr>
          <a:lstStyle>
            <a:lvl1pPr marL="0" indent="0" rtl="0">
              <a:buNone/>
              <a:defRPr sz="1999" b="0"/>
            </a:lvl1pPr>
          </a:lstStyle>
          <a:p>
            <a:pPr rtl="0"/>
            <a:r>
              <a:rPr lang="en-US" sz="2000" b="1" dirty="0">
                <a:effectLst/>
              </a:rPr>
              <a:t>Contributors: </a:t>
            </a:r>
            <a:r>
              <a:rPr lang="en-US" sz="2000" b="0" dirty="0">
                <a:effectLst/>
              </a:rPr>
              <a:t>Sara Pohland</a:t>
            </a:r>
            <a:endParaRPr lang="en-US" sz="2000" b="1" dirty="0">
              <a:effectLst/>
            </a:endParaRPr>
          </a:p>
        </p:txBody>
      </p:sp>
    </p:spTree>
    <p:extLst>
      <p:ext uri="{BB962C8B-B14F-4D97-AF65-F5344CB8AC3E}">
        <p14:creationId xmlns:p14="http://schemas.microsoft.com/office/powerpoint/2010/main" val="329643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tlin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12BBAB-BD3F-0D0A-D482-755167B330C9}"/>
              </a:ext>
            </a:extLst>
          </p:cNvPr>
          <p:cNvSpPr/>
          <p:nvPr userDrawn="1"/>
        </p:nvSpPr>
        <p:spPr>
          <a:xfrm>
            <a:off x="0" y="0"/>
            <a:ext cx="5889171"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accent1"/>
              </a:solidFill>
            </a:endParaRPr>
          </a:p>
        </p:txBody>
      </p:sp>
      <p:sp>
        <p:nvSpPr>
          <p:cNvPr id="3" name="Content Placeholder 2">
            <a:extLst>
              <a:ext uri="{FF2B5EF4-FFF2-40B4-BE49-F238E27FC236}">
                <a16:creationId xmlns:a16="http://schemas.microsoft.com/office/drawing/2014/main" id="{CF76F916-3489-0B28-0E7E-CD0344DC110A}"/>
              </a:ext>
            </a:extLst>
          </p:cNvPr>
          <p:cNvSpPr>
            <a:spLocks noGrp="1"/>
          </p:cNvSpPr>
          <p:nvPr>
            <p:ph idx="1"/>
          </p:nvPr>
        </p:nvSpPr>
        <p:spPr>
          <a:xfrm>
            <a:off x="6201591" y="840658"/>
            <a:ext cx="5677988" cy="5354657"/>
          </a:xfrm>
        </p:spPr>
        <p:txBody>
          <a:bodyPr/>
          <a:lstStyle>
            <a:lvl1pPr marL="514350" indent="-514350">
              <a:buFont typeface="+mj-lt"/>
              <a:buAutoNum type="arabicPeriod"/>
              <a:defRPr sz="3200">
                <a:solidFill>
                  <a:schemeClr val="accent1"/>
                </a:solidFill>
              </a:defRPr>
            </a:lvl1pPr>
            <a:lvl2pPr marL="971530" indent="-514350">
              <a:buFont typeface="+mj-lt"/>
              <a:buAutoNum type="alphaLcParenR"/>
              <a:defRPr sz="2800">
                <a:solidFill>
                  <a:schemeClr val="accent1"/>
                </a:solidFill>
              </a:defRPr>
            </a:lvl2pPr>
            <a:lvl3pPr marL="1371561" indent="-457200">
              <a:buFont typeface="+mj-lt"/>
              <a:buAutoNum type="arabicPeriod"/>
              <a:defRPr sz="2399">
                <a:solidFill>
                  <a:schemeClr val="accent1"/>
                </a:solidFill>
              </a:defRPr>
            </a:lvl3pPr>
            <a:lvl4pPr marL="1828742" indent="-457200">
              <a:buFont typeface="+mj-lt"/>
              <a:buAutoNum type="arabicPeriod"/>
              <a:defRPr sz="1999">
                <a:solidFill>
                  <a:schemeClr val="accent1"/>
                </a:solidFill>
              </a:defRPr>
            </a:lvl4pPr>
            <a:lvl5pPr marL="2285922" indent="-457200">
              <a:buFont typeface="+mj-lt"/>
              <a:buAutoNum type="arabicPeriod"/>
              <a:defRPr sz="1999">
                <a:solidFill>
                  <a:schemeClr val="accent1"/>
                </a:solidFill>
              </a:defRPr>
            </a:lvl5pPr>
            <a:lvl6pPr>
              <a:defRPr sz="1999"/>
            </a:lvl6pPr>
            <a:lvl7pPr>
              <a:defRPr sz="1999"/>
            </a:lvl7pPr>
            <a:lvl8pPr>
              <a:defRPr sz="1999"/>
            </a:lvl8pPr>
            <a:lvl9pPr>
              <a:defRPr sz="1999"/>
            </a:lvl9pPr>
          </a:lstStyle>
          <a:p>
            <a:pPr lvl="0"/>
            <a:r>
              <a:rPr lang="en-US" dirty="0"/>
              <a:t>Click to edit Master text styles</a:t>
            </a:r>
          </a:p>
          <a:p>
            <a:pPr lvl="1"/>
            <a:endParaRPr lang="en-US" dirty="0"/>
          </a:p>
        </p:txBody>
      </p:sp>
      <p:sp>
        <p:nvSpPr>
          <p:cNvPr id="5" name="Date Placeholder 4">
            <a:extLst>
              <a:ext uri="{FF2B5EF4-FFF2-40B4-BE49-F238E27FC236}">
                <a16:creationId xmlns:a16="http://schemas.microsoft.com/office/drawing/2014/main" id="{21EF141B-56CE-250D-A619-B61711E618FD}"/>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6" name="Footer Placeholder 5">
            <a:extLst>
              <a:ext uri="{FF2B5EF4-FFF2-40B4-BE49-F238E27FC236}">
                <a16:creationId xmlns:a16="http://schemas.microsoft.com/office/drawing/2014/main" id="{925F99C1-0728-5763-2D83-4B5CB170DAE3}"/>
              </a:ext>
            </a:extLst>
          </p:cNvPr>
          <p:cNvSpPr>
            <a:spLocks noGrp="1"/>
          </p:cNvSpPr>
          <p:nvPr>
            <p:ph type="ftr" sz="quarter" idx="11"/>
          </p:nvPr>
        </p:nvSpPr>
        <p:spPr>
          <a:xfrm>
            <a:off x="6201591" y="6356352"/>
            <a:ext cx="2637609" cy="365125"/>
          </a:xfrm>
        </p:spPr>
        <p:txBody>
          <a:bodyPr/>
          <a:lstStyle/>
          <a:p>
            <a:endParaRPr lang="en-US"/>
          </a:p>
        </p:txBody>
      </p:sp>
      <p:sp>
        <p:nvSpPr>
          <p:cNvPr id="7" name="Slide Number Placeholder 6">
            <a:extLst>
              <a:ext uri="{FF2B5EF4-FFF2-40B4-BE49-F238E27FC236}">
                <a16:creationId xmlns:a16="http://schemas.microsoft.com/office/drawing/2014/main" id="{A08E4991-F4CE-8F2D-B879-E6492E584DA3}"/>
              </a:ext>
            </a:extLst>
          </p:cNvPr>
          <p:cNvSpPr>
            <a:spLocks noGrp="1"/>
          </p:cNvSpPr>
          <p:nvPr>
            <p:ph type="sldNum" sz="quarter" idx="12"/>
          </p:nvPr>
        </p:nvSpPr>
        <p:spPr/>
        <p:txBody>
          <a:bodyPr/>
          <a:lstStyle/>
          <a:p>
            <a:fld id="{57F00127-D174-8342-BE7B-47BD4EF0A99B}" type="slidenum">
              <a:rPr lang="en-US" smtClean="0"/>
              <a:t>‹#›</a:t>
            </a:fld>
            <a:endParaRPr lang="en-US"/>
          </a:p>
        </p:txBody>
      </p:sp>
      <p:sp>
        <p:nvSpPr>
          <p:cNvPr id="14" name="TextBox 13">
            <a:extLst>
              <a:ext uri="{FF2B5EF4-FFF2-40B4-BE49-F238E27FC236}">
                <a16:creationId xmlns:a16="http://schemas.microsoft.com/office/drawing/2014/main" id="{141C87DB-7959-5487-122B-0462F6DC929D}"/>
              </a:ext>
            </a:extLst>
          </p:cNvPr>
          <p:cNvSpPr txBox="1"/>
          <p:nvPr userDrawn="1"/>
        </p:nvSpPr>
        <p:spPr>
          <a:xfrm>
            <a:off x="409576" y="2748545"/>
            <a:ext cx="5282836" cy="769441"/>
          </a:xfrm>
          <a:prstGeom prst="rect">
            <a:avLst/>
          </a:prstGeom>
          <a:noFill/>
        </p:spPr>
        <p:txBody>
          <a:bodyPr wrap="square" anchor="ctr">
            <a:spAutoFit/>
          </a:bodyPr>
          <a:lstStyle/>
          <a:p>
            <a:pPr algn="ctr"/>
            <a:r>
              <a:rPr lang="en-US" sz="4400" b="0" dirty="0">
                <a:solidFill>
                  <a:schemeClr val="accent1"/>
                </a:solidFill>
              </a:rPr>
              <a:t>Concepts Covered</a:t>
            </a:r>
          </a:p>
        </p:txBody>
      </p:sp>
    </p:spTree>
    <p:extLst>
      <p:ext uri="{BB962C8B-B14F-4D97-AF65-F5344CB8AC3E}">
        <p14:creationId xmlns:p14="http://schemas.microsoft.com/office/powerpoint/2010/main" val="726787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12BBAB-BD3F-0D0A-D482-755167B330C9}"/>
              </a:ext>
            </a:extLst>
          </p:cNvPr>
          <p:cNvSpPr/>
          <p:nvPr userDrawn="1"/>
        </p:nvSpPr>
        <p:spPr>
          <a:xfrm>
            <a:off x="0" y="0"/>
            <a:ext cx="5889171"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accent1"/>
              </a:solidFill>
            </a:endParaRPr>
          </a:p>
        </p:txBody>
      </p:sp>
      <p:sp>
        <p:nvSpPr>
          <p:cNvPr id="3" name="Content Placeholder 2">
            <a:extLst>
              <a:ext uri="{FF2B5EF4-FFF2-40B4-BE49-F238E27FC236}">
                <a16:creationId xmlns:a16="http://schemas.microsoft.com/office/drawing/2014/main" id="{CF76F916-3489-0B28-0E7E-CD0344DC110A}"/>
              </a:ext>
            </a:extLst>
          </p:cNvPr>
          <p:cNvSpPr>
            <a:spLocks noGrp="1"/>
          </p:cNvSpPr>
          <p:nvPr>
            <p:ph idx="1"/>
          </p:nvPr>
        </p:nvSpPr>
        <p:spPr>
          <a:xfrm>
            <a:off x="6201591" y="840658"/>
            <a:ext cx="5677988" cy="5354657"/>
          </a:xfrm>
        </p:spPr>
        <p:txBody>
          <a:bodyPr/>
          <a:lstStyle>
            <a:lvl1pPr marL="514350" indent="-514350">
              <a:buFont typeface="+mj-lt"/>
              <a:buAutoNum type="arabicPeriod"/>
              <a:defRPr sz="3200">
                <a:solidFill>
                  <a:schemeClr val="accent1"/>
                </a:solidFill>
              </a:defRPr>
            </a:lvl1pPr>
            <a:lvl2pPr marL="971530" indent="-514350">
              <a:buFont typeface="+mj-lt"/>
              <a:buAutoNum type="alphaLcParenR"/>
              <a:defRPr sz="2800">
                <a:solidFill>
                  <a:schemeClr val="accent1"/>
                </a:solidFill>
              </a:defRPr>
            </a:lvl2pPr>
            <a:lvl3pPr marL="1371561" indent="-457200">
              <a:buFont typeface="+mj-lt"/>
              <a:buAutoNum type="arabicPeriod"/>
              <a:defRPr sz="2399">
                <a:solidFill>
                  <a:schemeClr val="accent1"/>
                </a:solidFill>
              </a:defRPr>
            </a:lvl3pPr>
            <a:lvl4pPr marL="1828742" indent="-457200">
              <a:buFont typeface="+mj-lt"/>
              <a:buAutoNum type="arabicPeriod"/>
              <a:defRPr sz="1999">
                <a:solidFill>
                  <a:schemeClr val="accent1"/>
                </a:solidFill>
              </a:defRPr>
            </a:lvl4pPr>
            <a:lvl5pPr marL="2285922" indent="-457200">
              <a:buFont typeface="+mj-lt"/>
              <a:buAutoNum type="arabicPeriod"/>
              <a:defRPr sz="1999">
                <a:solidFill>
                  <a:schemeClr val="accent1"/>
                </a:solidFill>
              </a:defRPr>
            </a:lvl5pPr>
            <a:lvl6pPr>
              <a:defRPr sz="1999"/>
            </a:lvl6pPr>
            <a:lvl7pPr>
              <a:defRPr sz="1999"/>
            </a:lvl7pPr>
            <a:lvl8pPr>
              <a:defRPr sz="1999"/>
            </a:lvl8pPr>
            <a:lvl9pPr>
              <a:defRPr sz="1999"/>
            </a:lvl9pPr>
          </a:lstStyle>
          <a:p>
            <a:pPr lvl="0"/>
            <a:r>
              <a:rPr lang="en-US" dirty="0"/>
              <a:t>Click to edit Master text styles</a:t>
            </a:r>
          </a:p>
          <a:p>
            <a:pPr lvl="1"/>
            <a:endParaRPr lang="en-US" dirty="0"/>
          </a:p>
        </p:txBody>
      </p:sp>
      <p:sp>
        <p:nvSpPr>
          <p:cNvPr id="5" name="Date Placeholder 4">
            <a:extLst>
              <a:ext uri="{FF2B5EF4-FFF2-40B4-BE49-F238E27FC236}">
                <a16:creationId xmlns:a16="http://schemas.microsoft.com/office/drawing/2014/main" id="{21EF141B-56CE-250D-A619-B61711E618FD}"/>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6" name="Footer Placeholder 5">
            <a:extLst>
              <a:ext uri="{FF2B5EF4-FFF2-40B4-BE49-F238E27FC236}">
                <a16:creationId xmlns:a16="http://schemas.microsoft.com/office/drawing/2014/main" id="{925F99C1-0728-5763-2D83-4B5CB170DAE3}"/>
              </a:ext>
            </a:extLst>
          </p:cNvPr>
          <p:cNvSpPr>
            <a:spLocks noGrp="1"/>
          </p:cNvSpPr>
          <p:nvPr>
            <p:ph type="ftr" sz="quarter" idx="11"/>
          </p:nvPr>
        </p:nvSpPr>
        <p:spPr>
          <a:xfrm>
            <a:off x="6201591" y="6356352"/>
            <a:ext cx="2637609" cy="365125"/>
          </a:xfrm>
        </p:spPr>
        <p:txBody>
          <a:bodyPr/>
          <a:lstStyle/>
          <a:p>
            <a:endParaRPr lang="en-US"/>
          </a:p>
        </p:txBody>
      </p:sp>
      <p:sp>
        <p:nvSpPr>
          <p:cNvPr id="7" name="Slide Number Placeholder 6">
            <a:extLst>
              <a:ext uri="{FF2B5EF4-FFF2-40B4-BE49-F238E27FC236}">
                <a16:creationId xmlns:a16="http://schemas.microsoft.com/office/drawing/2014/main" id="{A08E4991-F4CE-8F2D-B879-E6492E584DA3}"/>
              </a:ext>
            </a:extLst>
          </p:cNvPr>
          <p:cNvSpPr>
            <a:spLocks noGrp="1"/>
          </p:cNvSpPr>
          <p:nvPr>
            <p:ph type="sldNum" sz="quarter" idx="12"/>
          </p:nvPr>
        </p:nvSpPr>
        <p:spPr/>
        <p:txBody>
          <a:bodyPr/>
          <a:lstStyle/>
          <a:p>
            <a:fld id="{57F00127-D174-8342-BE7B-47BD4EF0A99B}" type="slidenum">
              <a:rPr lang="en-US" smtClean="0"/>
              <a:t>‹#›</a:t>
            </a:fld>
            <a:endParaRPr lang="en-US"/>
          </a:p>
        </p:txBody>
      </p:sp>
      <p:sp>
        <p:nvSpPr>
          <p:cNvPr id="4" name="Title 1">
            <a:extLst>
              <a:ext uri="{FF2B5EF4-FFF2-40B4-BE49-F238E27FC236}">
                <a16:creationId xmlns:a16="http://schemas.microsoft.com/office/drawing/2014/main" id="{64F7327E-1360-B2B6-CAD8-BA6D49663847}"/>
              </a:ext>
            </a:extLst>
          </p:cNvPr>
          <p:cNvSpPr>
            <a:spLocks noGrp="1"/>
          </p:cNvSpPr>
          <p:nvPr>
            <p:ph type="ctrTitle" hasCustomPrompt="1"/>
          </p:nvPr>
        </p:nvSpPr>
        <p:spPr>
          <a:xfrm>
            <a:off x="418829" y="2454901"/>
            <a:ext cx="5273583" cy="1446550"/>
          </a:xfrm>
        </p:spPr>
        <p:txBody>
          <a:bodyPr anchor="ctr">
            <a:normAutofit/>
          </a:bodyPr>
          <a:lstStyle>
            <a:lvl1pPr algn="ctr">
              <a:defRPr sz="4400">
                <a:solidFill>
                  <a:schemeClr val="accent1"/>
                </a:solidFill>
              </a:defRPr>
            </a:lvl1pPr>
          </a:lstStyle>
          <a:p>
            <a:r>
              <a:rPr lang="en-US" dirty="0"/>
              <a:t>Section</a:t>
            </a:r>
          </a:p>
        </p:txBody>
      </p:sp>
    </p:spTree>
    <p:extLst>
      <p:ext uri="{BB962C8B-B14F-4D97-AF65-F5344CB8AC3E}">
        <p14:creationId xmlns:p14="http://schemas.microsoft.com/office/powerpoint/2010/main" val="2550436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631F-B715-C351-86C8-DDD1F14B2F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8253D-E5C6-AE30-E74D-7E54724570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D72C2-CA2E-C8EC-8EDB-73EA18FA65B9}"/>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5" name="Footer Placeholder 4">
            <a:extLst>
              <a:ext uri="{FF2B5EF4-FFF2-40B4-BE49-F238E27FC236}">
                <a16:creationId xmlns:a16="http://schemas.microsoft.com/office/drawing/2014/main" id="{A76E0F75-811E-3F47-06FA-F0256F7BA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CFF0A-567E-2F1A-12A9-797C04CFE9B7}"/>
              </a:ext>
            </a:extLst>
          </p:cNvPr>
          <p:cNvSpPr>
            <a:spLocks noGrp="1"/>
          </p:cNvSpPr>
          <p:nvPr>
            <p:ph type="sldNum" sz="quarter" idx="12"/>
          </p:nvPr>
        </p:nvSpPr>
        <p:spPr/>
        <p:txBody>
          <a:bodyPr/>
          <a:lstStyle/>
          <a:p>
            <a:fld id="{57F00127-D174-8342-BE7B-47BD4EF0A99B}" type="slidenum">
              <a:rPr lang="en-US" smtClean="0"/>
              <a:t>‹#›</a:t>
            </a:fld>
            <a:endParaRPr lang="en-US"/>
          </a:p>
        </p:txBody>
      </p:sp>
    </p:spTree>
    <p:extLst>
      <p:ext uri="{BB962C8B-B14F-4D97-AF65-F5344CB8AC3E}">
        <p14:creationId xmlns:p14="http://schemas.microsoft.com/office/powerpoint/2010/main" val="1781104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D680-B66A-9A6F-1136-AAF6650250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9061C7-3026-1192-789C-FDE5F605B3F2}"/>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4" name="Footer Placeholder 3">
            <a:extLst>
              <a:ext uri="{FF2B5EF4-FFF2-40B4-BE49-F238E27FC236}">
                <a16:creationId xmlns:a16="http://schemas.microsoft.com/office/drawing/2014/main" id="{AE63BC56-6A03-8BF0-7B0E-9C9DAABDF3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198C5A-D0BF-A462-7AB7-ABB0234470AB}"/>
              </a:ext>
            </a:extLst>
          </p:cNvPr>
          <p:cNvSpPr>
            <a:spLocks noGrp="1"/>
          </p:cNvSpPr>
          <p:nvPr>
            <p:ph type="sldNum" sz="quarter" idx="12"/>
          </p:nvPr>
        </p:nvSpPr>
        <p:spPr/>
        <p:txBody>
          <a:bodyPr/>
          <a:lstStyle/>
          <a:p>
            <a:fld id="{57F00127-D174-8342-BE7B-47BD4EF0A99B}" type="slidenum">
              <a:rPr lang="en-US" smtClean="0"/>
              <a:t>‹#›</a:t>
            </a:fld>
            <a:endParaRPr lang="en-US"/>
          </a:p>
        </p:txBody>
      </p:sp>
    </p:spTree>
    <p:extLst>
      <p:ext uri="{BB962C8B-B14F-4D97-AF65-F5344CB8AC3E}">
        <p14:creationId xmlns:p14="http://schemas.microsoft.com/office/powerpoint/2010/main" val="196303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0BA756-70C6-4C85-E4F7-D160E3E3DB6C}"/>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3" name="Footer Placeholder 2">
            <a:extLst>
              <a:ext uri="{FF2B5EF4-FFF2-40B4-BE49-F238E27FC236}">
                <a16:creationId xmlns:a16="http://schemas.microsoft.com/office/drawing/2014/main" id="{0B87A4BD-1714-AB43-0984-32F9197175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93C6DA-4D50-57C4-27EF-903CE2972E94}"/>
              </a:ext>
            </a:extLst>
          </p:cNvPr>
          <p:cNvSpPr>
            <a:spLocks noGrp="1"/>
          </p:cNvSpPr>
          <p:nvPr>
            <p:ph type="sldNum" sz="quarter" idx="12"/>
          </p:nvPr>
        </p:nvSpPr>
        <p:spPr/>
        <p:txBody>
          <a:bodyPr/>
          <a:lstStyle/>
          <a:p>
            <a:fld id="{57F00127-D174-8342-BE7B-47BD4EF0A99B}" type="slidenum">
              <a:rPr lang="en-US" smtClean="0"/>
              <a:t>‹#›</a:t>
            </a:fld>
            <a:endParaRPr lang="en-US"/>
          </a:p>
        </p:txBody>
      </p:sp>
    </p:spTree>
    <p:extLst>
      <p:ext uri="{BB962C8B-B14F-4D97-AF65-F5344CB8AC3E}">
        <p14:creationId xmlns:p14="http://schemas.microsoft.com/office/powerpoint/2010/main" val="262195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p:bg>
      <p:bgPr>
        <a:pattFill prst="wdUpDiag">
          <a:fgClr>
            <a:schemeClr val="accent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631F-B715-C351-86C8-DDD1F14B2F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8253D-E5C6-AE30-E74D-7E54724570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D72C2-CA2E-C8EC-8EDB-73EA18FA65B9}"/>
              </a:ext>
            </a:extLst>
          </p:cNvPr>
          <p:cNvSpPr>
            <a:spLocks noGrp="1"/>
          </p:cNvSpPr>
          <p:nvPr>
            <p:ph type="dt" sz="half" idx="10"/>
          </p:nvPr>
        </p:nvSpPr>
        <p:spPr/>
        <p:txBody>
          <a:bodyPr/>
          <a:lstStyle/>
          <a:p>
            <a:fld id="{AD6ECE7C-F239-264E-B78C-BA7850715F60}" type="datetimeFigureOut">
              <a:rPr lang="en-US" smtClean="0"/>
              <a:t>4/5/26</a:t>
            </a:fld>
            <a:endParaRPr lang="en-US"/>
          </a:p>
        </p:txBody>
      </p:sp>
      <p:sp>
        <p:nvSpPr>
          <p:cNvPr id="5" name="Footer Placeholder 4">
            <a:extLst>
              <a:ext uri="{FF2B5EF4-FFF2-40B4-BE49-F238E27FC236}">
                <a16:creationId xmlns:a16="http://schemas.microsoft.com/office/drawing/2014/main" id="{A76E0F75-811E-3F47-06FA-F0256F7BA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8CFF0A-567E-2F1A-12A9-797C04CFE9B7}"/>
              </a:ext>
            </a:extLst>
          </p:cNvPr>
          <p:cNvSpPr>
            <a:spLocks noGrp="1"/>
          </p:cNvSpPr>
          <p:nvPr>
            <p:ph type="sldNum" sz="quarter" idx="12"/>
          </p:nvPr>
        </p:nvSpPr>
        <p:spPr/>
        <p:txBody>
          <a:bodyPr/>
          <a:lstStyle/>
          <a:p>
            <a:fld id="{57F00127-D174-8342-BE7B-47BD4EF0A99B}" type="slidenum">
              <a:rPr lang="en-US" smtClean="0"/>
              <a:t>‹#›</a:t>
            </a:fld>
            <a:endParaRPr lang="en-US"/>
          </a:p>
        </p:txBody>
      </p:sp>
      <p:sp>
        <p:nvSpPr>
          <p:cNvPr id="7" name="Rectangle 6">
            <a:extLst>
              <a:ext uri="{FF2B5EF4-FFF2-40B4-BE49-F238E27FC236}">
                <a16:creationId xmlns:a16="http://schemas.microsoft.com/office/drawing/2014/main" id="{590A1AB5-9309-3737-AA02-188864955806}"/>
              </a:ext>
            </a:extLst>
          </p:cNvPr>
          <p:cNvSpPr/>
          <p:nvPr/>
        </p:nvSpPr>
        <p:spPr>
          <a:xfrm rot="2159156">
            <a:off x="6968821" y="974861"/>
            <a:ext cx="7072858" cy="8108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accent1"/>
                </a:solidFill>
              </a:rPr>
              <a:t>Under Construction</a:t>
            </a:r>
          </a:p>
        </p:txBody>
      </p:sp>
      <p:sp>
        <p:nvSpPr>
          <p:cNvPr id="8" name="Rectangle 7">
            <a:extLst>
              <a:ext uri="{FF2B5EF4-FFF2-40B4-BE49-F238E27FC236}">
                <a16:creationId xmlns:a16="http://schemas.microsoft.com/office/drawing/2014/main" id="{43394FA8-0B6F-0C57-E2FB-64AE0BB7C8D8}"/>
              </a:ext>
            </a:extLst>
          </p:cNvPr>
          <p:cNvSpPr/>
          <p:nvPr/>
        </p:nvSpPr>
        <p:spPr>
          <a:xfrm rot="2159156">
            <a:off x="6968821" y="974861"/>
            <a:ext cx="7072858" cy="8108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accent1"/>
                </a:solidFill>
              </a:rPr>
              <a:t>Under Construction</a:t>
            </a:r>
          </a:p>
        </p:txBody>
      </p:sp>
      <p:sp>
        <p:nvSpPr>
          <p:cNvPr id="9" name="Rectangle 8">
            <a:extLst>
              <a:ext uri="{FF2B5EF4-FFF2-40B4-BE49-F238E27FC236}">
                <a16:creationId xmlns:a16="http://schemas.microsoft.com/office/drawing/2014/main" id="{02B46E09-1CA3-8B5E-018D-480A3651C614}"/>
              </a:ext>
            </a:extLst>
          </p:cNvPr>
          <p:cNvSpPr/>
          <p:nvPr userDrawn="1"/>
        </p:nvSpPr>
        <p:spPr>
          <a:xfrm rot="2159156">
            <a:off x="6968821" y="974861"/>
            <a:ext cx="7072858" cy="81088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accent1"/>
                </a:solidFill>
              </a:rPr>
              <a:t>Under Construction</a:t>
            </a:r>
          </a:p>
        </p:txBody>
      </p:sp>
    </p:spTree>
    <p:extLst>
      <p:ext uri="{BB962C8B-B14F-4D97-AF65-F5344CB8AC3E}">
        <p14:creationId xmlns:p14="http://schemas.microsoft.com/office/powerpoint/2010/main" val="873110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E72BE2-3D10-A4D6-A4BB-927A2F47C4F7}"/>
              </a:ext>
            </a:extLst>
          </p:cNvPr>
          <p:cNvSpPr>
            <a:spLocks noGrp="1"/>
          </p:cNvSpPr>
          <p:nvPr>
            <p:ph type="title"/>
          </p:nvPr>
        </p:nvSpPr>
        <p:spPr>
          <a:xfrm>
            <a:off x="312421" y="268441"/>
            <a:ext cx="11567160" cy="104243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044443-AFCD-30A1-35E8-54C22E5CB5BA}"/>
              </a:ext>
            </a:extLst>
          </p:cNvPr>
          <p:cNvSpPr>
            <a:spLocks noGrp="1"/>
          </p:cNvSpPr>
          <p:nvPr>
            <p:ph type="body" idx="1"/>
          </p:nvPr>
        </p:nvSpPr>
        <p:spPr>
          <a:xfrm>
            <a:off x="312421" y="1424540"/>
            <a:ext cx="11567160" cy="4752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B03D1-B3C3-E3DE-25B0-9D01C990F3A5}"/>
              </a:ext>
            </a:extLst>
          </p:cNvPr>
          <p:cNvSpPr>
            <a:spLocks noGrp="1"/>
          </p:cNvSpPr>
          <p:nvPr>
            <p:ph type="dt" sz="half" idx="2"/>
          </p:nvPr>
        </p:nvSpPr>
        <p:spPr>
          <a:xfrm>
            <a:off x="312420" y="6356352"/>
            <a:ext cx="2743201" cy="365125"/>
          </a:xfrm>
          <a:prstGeom prst="rect">
            <a:avLst/>
          </a:prstGeom>
        </p:spPr>
        <p:txBody>
          <a:bodyPr vert="horz" lIns="91440" tIns="45720" rIns="91440" bIns="45720" rtlCol="0" anchor="ctr"/>
          <a:lstStyle>
            <a:lvl1pPr algn="l">
              <a:defRPr sz="1201">
                <a:solidFill>
                  <a:schemeClr val="tx1">
                    <a:tint val="82000"/>
                  </a:schemeClr>
                </a:solidFill>
              </a:defRPr>
            </a:lvl1pPr>
          </a:lstStyle>
          <a:p>
            <a:fld id="{AD6ECE7C-F239-264E-B78C-BA7850715F60}" type="datetimeFigureOut">
              <a:rPr lang="en-US" smtClean="0"/>
              <a:t>4/5/26</a:t>
            </a:fld>
            <a:endParaRPr lang="en-US"/>
          </a:p>
        </p:txBody>
      </p:sp>
      <p:sp>
        <p:nvSpPr>
          <p:cNvPr id="5" name="Footer Placeholder 4">
            <a:extLst>
              <a:ext uri="{FF2B5EF4-FFF2-40B4-BE49-F238E27FC236}">
                <a16:creationId xmlns:a16="http://schemas.microsoft.com/office/drawing/2014/main" id="{D680FAEF-2C69-4228-F172-6AF8D38B41A3}"/>
              </a:ext>
            </a:extLst>
          </p:cNvPr>
          <p:cNvSpPr>
            <a:spLocks noGrp="1"/>
          </p:cNvSpPr>
          <p:nvPr>
            <p:ph type="ftr" sz="quarter" idx="3"/>
          </p:nvPr>
        </p:nvSpPr>
        <p:spPr>
          <a:xfrm>
            <a:off x="4038601" y="6356352"/>
            <a:ext cx="4114799" cy="365125"/>
          </a:xfrm>
          <a:prstGeom prst="rect">
            <a:avLst/>
          </a:prstGeom>
        </p:spPr>
        <p:txBody>
          <a:bodyPr vert="horz" lIns="91440" tIns="45720" rIns="91440" bIns="45720" rtlCol="0" anchor="ctr"/>
          <a:lstStyle>
            <a:lvl1pPr algn="ctr">
              <a:defRPr sz="1201">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69E385-2514-2277-700A-3D8DB374E624}"/>
              </a:ext>
            </a:extLst>
          </p:cNvPr>
          <p:cNvSpPr>
            <a:spLocks noGrp="1"/>
          </p:cNvSpPr>
          <p:nvPr>
            <p:ph type="sldNum" sz="quarter" idx="4"/>
          </p:nvPr>
        </p:nvSpPr>
        <p:spPr>
          <a:xfrm>
            <a:off x="9136379" y="6356352"/>
            <a:ext cx="2743201" cy="365125"/>
          </a:xfrm>
          <a:prstGeom prst="rect">
            <a:avLst/>
          </a:prstGeom>
        </p:spPr>
        <p:txBody>
          <a:bodyPr vert="horz" lIns="91440" tIns="45720" rIns="91440" bIns="45720" rtlCol="0" anchor="ctr"/>
          <a:lstStyle>
            <a:lvl1pPr algn="r">
              <a:defRPr sz="1201">
                <a:solidFill>
                  <a:schemeClr val="tx1">
                    <a:tint val="82000"/>
                  </a:schemeClr>
                </a:solidFill>
              </a:defRPr>
            </a:lvl1pPr>
          </a:lstStyle>
          <a:p>
            <a:fld id="{57F00127-D174-8342-BE7B-47BD4EF0A99B}" type="slidenum">
              <a:rPr lang="en-US" smtClean="0"/>
              <a:t>‹#›</a:t>
            </a:fld>
            <a:endParaRPr lang="en-US"/>
          </a:p>
        </p:txBody>
      </p:sp>
      <p:pic>
        <p:nvPicPr>
          <p:cNvPr id="1026" name="Picture 2">
            <a:extLst>
              <a:ext uri="{FF2B5EF4-FFF2-40B4-BE49-F238E27FC236}">
                <a16:creationId xmlns:a16="http://schemas.microsoft.com/office/drawing/2014/main" id="{9720B340-CA26-4612-C920-98ACF64F464A}"/>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6678554"/>
            <a:ext cx="565079" cy="1977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96B503C-48E6-8525-AC4A-5574192204A8}"/>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6678554"/>
            <a:ext cx="565079" cy="1977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B4F8532-524C-7689-EEE8-FA2692892207}"/>
              </a:ext>
            </a:extLst>
          </p:cNvPr>
          <p:cNvPicPr>
            <a:picLocks noChangeAspect="1" noChangeArrowheads="1"/>
          </p:cNvPicPr>
          <p:nvPr userDrawn="1"/>
        </p:nvPicPr>
        <p:blipFill>
          <a:blip>
            <a:extLst>
              <a:ext uri="{28A0092B-C50C-407E-A947-70E740481C1C}">
                <a14:useLocalDpi xmlns:a14="http://schemas.microsoft.com/office/drawing/2010/main" val="0"/>
              </a:ext>
            </a:extLst>
          </a:blip>
          <a:srcRect/>
          <a:stretch>
            <a:fillRect/>
          </a:stretch>
        </p:blipFill>
        <p:spPr bwMode="auto">
          <a:xfrm>
            <a:off x="1" y="6678554"/>
            <a:ext cx="565079" cy="197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083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86" r:id="rId3"/>
    <p:sldLayoutId id="2147483687" r:id="rId4"/>
    <p:sldLayoutId id="2147483675" r:id="rId5"/>
    <p:sldLayoutId id="2147483679" r:id="rId6"/>
    <p:sldLayoutId id="2147483680" r:id="rId7"/>
    <p:sldLayoutId id="2147483676" r:id="rId8"/>
  </p:sldLayoutIdLst>
  <p:txStyles>
    <p:titleStyle>
      <a:lvl1pPr algn="l" defTabSz="914361"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590" indent="-228590" algn="l" defTabSz="91436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0" indent="-228590" algn="l" defTabSz="914361" rtl="0" eaLnBrk="1" latinLnBrk="0" hangingPunct="1">
        <a:lnSpc>
          <a:spcPct val="90000"/>
        </a:lnSpc>
        <a:spcBef>
          <a:spcPts val="499"/>
        </a:spcBef>
        <a:buFont typeface="Arial" panose="020B0604020202020204" pitchFamily="34" charset="0"/>
        <a:buChar char="•"/>
        <a:defRPr sz="2399" kern="1200">
          <a:solidFill>
            <a:schemeClr val="tx1"/>
          </a:solidFill>
          <a:latin typeface="+mn-lt"/>
          <a:ea typeface="+mn-ea"/>
          <a:cs typeface="+mn-cs"/>
        </a:defRPr>
      </a:lvl2pPr>
      <a:lvl3pPr marL="1142951" indent="-228590" algn="l" defTabSz="914361" rtl="0" eaLnBrk="1" latinLnBrk="0" hangingPunct="1">
        <a:lnSpc>
          <a:spcPct val="90000"/>
        </a:lnSpc>
        <a:spcBef>
          <a:spcPts val="499"/>
        </a:spcBef>
        <a:buFont typeface="Arial" panose="020B0604020202020204" pitchFamily="34" charset="0"/>
        <a:buChar char="•"/>
        <a:defRPr sz="1999" kern="1200">
          <a:solidFill>
            <a:schemeClr val="tx1"/>
          </a:solidFill>
          <a:latin typeface="+mn-lt"/>
          <a:ea typeface="+mn-ea"/>
          <a:cs typeface="+mn-cs"/>
        </a:defRPr>
      </a:lvl3pPr>
      <a:lvl4pPr marL="1600132"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4pPr>
      <a:lvl5pPr marL="2057312"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5pPr>
      <a:lvl6pPr marL="2514493"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71672"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8853"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6034" indent="-228590" algn="l" defTabSz="914361"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361" rtl="0" eaLnBrk="1" latinLnBrk="0" hangingPunct="1">
        <a:defRPr sz="1799" kern="1200">
          <a:solidFill>
            <a:schemeClr val="tx1"/>
          </a:solidFill>
          <a:latin typeface="+mn-lt"/>
          <a:ea typeface="+mn-ea"/>
          <a:cs typeface="+mn-cs"/>
        </a:defRPr>
      </a:lvl1pPr>
      <a:lvl2pPr marL="457181" algn="l" defTabSz="914361" rtl="0" eaLnBrk="1" latinLnBrk="0" hangingPunct="1">
        <a:defRPr sz="1799" kern="1200">
          <a:solidFill>
            <a:schemeClr val="tx1"/>
          </a:solidFill>
          <a:latin typeface="+mn-lt"/>
          <a:ea typeface="+mn-ea"/>
          <a:cs typeface="+mn-cs"/>
        </a:defRPr>
      </a:lvl2pPr>
      <a:lvl3pPr marL="914361" algn="l" defTabSz="914361" rtl="0" eaLnBrk="1" latinLnBrk="0" hangingPunct="1">
        <a:defRPr sz="1799" kern="1200">
          <a:solidFill>
            <a:schemeClr val="tx1"/>
          </a:solidFill>
          <a:latin typeface="+mn-lt"/>
          <a:ea typeface="+mn-ea"/>
          <a:cs typeface="+mn-cs"/>
        </a:defRPr>
      </a:lvl3pPr>
      <a:lvl4pPr marL="1371542" algn="l" defTabSz="914361" rtl="0" eaLnBrk="1" latinLnBrk="0" hangingPunct="1">
        <a:defRPr sz="1799" kern="1200">
          <a:solidFill>
            <a:schemeClr val="tx1"/>
          </a:solidFill>
          <a:latin typeface="+mn-lt"/>
          <a:ea typeface="+mn-ea"/>
          <a:cs typeface="+mn-cs"/>
        </a:defRPr>
      </a:lvl4pPr>
      <a:lvl5pPr marL="1828721" algn="l" defTabSz="914361" rtl="0" eaLnBrk="1" latinLnBrk="0" hangingPunct="1">
        <a:defRPr sz="1799" kern="1200">
          <a:solidFill>
            <a:schemeClr val="tx1"/>
          </a:solidFill>
          <a:latin typeface="+mn-lt"/>
          <a:ea typeface="+mn-ea"/>
          <a:cs typeface="+mn-cs"/>
        </a:defRPr>
      </a:lvl5pPr>
      <a:lvl6pPr marL="2285902" algn="l" defTabSz="914361" rtl="0" eaLnBrk="1" latinLnBrk="0" hangingPunct="1">
        <a:defRPr sz="1799" kern="1200">
          <a:solidFill>
            <a:schemeClr val="tx1"/>
          </a:solidFill>
          <a:latin typeface="+mn-lt"/>
          <a:ea typeface="+mn-ea"/>
          <a:cs typeface="+mn-cs"/>
        </a:defRPr>
      </a:lvl6pPr>
      <a:lvl7pPr marL="2743083" algn="l" defTabSz="914361" rtl="0" eaLnBrk="1" latinLnBrk="0" hangingPunct="1">
        <a:defRPr sz="1799" kern="1200">
          <a:solidFill>
            <a:schemeClr val="tx1"/>
          </a:solidFill>
          <a:latin typeface="+mn-lt"/>
          <a:ea typeface="+mn-ea"/>
          <a:cs typeface="+mn-cs"/>
        </a:defRPr>
      </a:lvl7pPr>
      <a:lvl8pPr marL="3200264" algn="l" defTabSz="914361" rtl="0" eaLnBrk="1" latinLnBrk="0" hangingPunct="1">
        <a:defRPr sz="1799" kern="1200">
          <a:solidFill>
            <a:schemeClr val="tx1"/>
          </a:solidFill>
          <a:latin typeface="+mn-lt"/>
          <a:ea typeface="+mn-ea"/>
          <a:cs typeface="+mn-cs"/>
        </a:defRPr>
      </a:lvl8pPr>
      <a:lvl9pPr marL="3657444" algn="l" defTabSz="914361"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s://medium.com/nlplanet/two-minutes-nlp-learn-the-rouge-metric-by-examples-f179cc285499"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B2A10-493F-3538-3A3A-7A4DEF82C180}"/>
              </a:ext>
            </a:extLst>
          </p:cNvPr>
          <p:cNvSpPr>
            <a:spLocks noGrp="1"/>
          </p:cNvSpPr>
          <p:nvPr>
            <p:ph type="ctrTitle"/>
          </p:nvPr>
        </p:nvSpPr>
        <p:spPr/>
        <p:txBody>
          <a:bodyPr>
            <a:noAutofit/>
          </a:bodyPr>
          <a:lstStyle/>
          <a:p>
            <a:r>
              <a:rPr lang="en-US" sz="4800" dirty="0"/>
              <a:t>Confidence Estimation for Radiology Report Generation</a:t>
            </a:r>
          </a:p>
        </p:txBody>
      </p:sp>
      <p:sp>
        <p:nvSpPr>
          <p:cNvPr id="3" name="Subtitle 2">
            <a:extLst>
              <a:ext uri="{FF2B5EF4-FFF2-40B4-BE49-F238E27FC236}">
                <a16:creationId xmlns:a16="http://schemas.microsoft.com/office/drawing/2014/main" id="{3F41291A-D273-D5E8-838F-6944AD7AD374}"/>
              </a:ext>
            </a:extLst>
          </p:cNvPr>
          <p:cNvSpPr>
            <a:spLocks noGrp="1"/>
          </p:cNvSpPr>
          <p:nvPr>
            <p:ph type="subTitle" idx="1"/>
          </p:nvPr>
        </p:nvSpPr>
        <p:spPr/>
        <p:txBody>
          <a:bodyPr/>
          <a:lstStyle/>
          <a:p>
            <a:r>
              <a:rPr lang="en-US" dirty="0"/>
              <a:t>Summary of Current Results – April 6, 2026</a:t>
            </a:r>
          </a:p>
        </p:txBody>
      </p:sp>
      <p:sp>
        <p:nvSpPr>
          <p:cNvPr id="4" name="Text Placeholder 3">
            <a:extLst>
              <a:ext uri="{FF2B5EF4-FFF2-40B4-BE49-F238E27FC236}">
                <a16:creationId xmlns:a16="http://schemas.microsoft.com/office/drawing/2014/main" id="{ED02D470-A708-3FA2-E9A7-AFD6CF3548B3}"/>
              </a:ext>
            </a:extLst>
          </p:cNvPr>
          <p:cNvSpPr>
            <a:spLocks noGrp="1"/>
          </p:cNvSpPr>
          <p:nvPr>
            <p:ph type="body" sz="quarter" idx="13"/>
          </p:nvPr>
        </p:nvSpPr>
        <p:spPr>
          <a:xfrm>
            <a:off x="823119" y="4367213"/>
            <a:ext cx="10230645" cy="646112"/>
          </a:xfrm>
        </p:spPr>
        <p:txBody>
          <a:bodyPr/>
          <a:lstStyle/>
          <a:p>
            <a:r>
              <a:rPr lang="en-US" dirty="0"/>
              <a:t>Sara Pohland</a:t>
            </a:r>
          </a:p>
        </p:txBody>
      </p:sp>
      <p:sp>
        <p:nvSpPr>
          <p:cNvPr id="5" name="Text Placeholder 4">
            <a:extLst>
              <a:ext uri="{FF2B5EF4-FFF2-40B4-BE49-F238E27FC236}">
                <a16:creationId xmlns:a16="http://schemas.microsoft.com/office/drawing/2014/main" id="{C694B16C-972D-B995-A83F-5D6BC030486A}"/>
              </a:ext>
            </a:extLst>
          </p:cNvPr>
          <p:cNvSpPr>
            <a:spLocks noGrp="1"/>
          </p:cNvSpPr>
          <p:nvPr>
            <p:ph type="body" sz="quarter" idx="14"/>
          </p:nvPr>
        </p:nvSpPr>
        <p:spPr>
          <a:xfrm>
            <a:off x="823120" y="4916921"/>
            <a:ext cx="10088166" cy="486105"/>
          </a:xfrm>
        </p:spPr>
        <p:txBody>
          <a:bodyPr/>
          <a:lstStyle/>
          <a:p>
            <a:r>
              <a:rPr lang="en-US" sz="1800" dirty="0"/>
              <a:t>University of California, Berkeley</a:t>
            </a:r>
          </a:p>
        </p:txBody>
      </p:sp>
    </p:spTree>
    <p:extLst>
      <p:ext uri="{BB962C8B-B14F-4D97-AF65-F5344CB8AC3E}">
        <p14:creationId xmlns:p14="http://schemas.microsoft.com/office/powerpoint/2010/main" val="1512677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0372-6B0A-C2C5-F718-74CC87A9BD42}"/>
              </a:ext>
            </a:extLst>
          </p:cNvPr>
          <p:cNvSpPr>
            <a:spLocks noGrp="1"/>
          </p:cNvSpPr>
          <p:nvPr>
            <p:ph type="title"/>
          </p:nvPr>
        </p:nvSpPr>
        <p:spPr/>
        <p:txBody>
          <a:bodyPr/>
          <a:lstStyle/>
          <a:p>
            <a:r>
              <a:rPr lang="en-US" dirty="0"/>
              <a:t>1. Setup</a:t>
            </a:r>
          </a:p>
        </p:txBody>
      </p:sp>
      <p:sp>
        <p:nvSpPr>
          <p:cNvPr id="3" name="Content Placeholder 2">
            <a:extLst>
              <a:ext uri="{FF2B5EF4-FFF2-40B4-BE49-F238E27FC236}">
                <a16:creationId xmlns:a16="http://schemas.microsoft.com/office/drawing/2014/main" id="{80353869-27B0-FE4C-4A0C-2176B632BE65}"/>
              </a:ext>
            </a:extLst>
          </p:cNvPr>
          <p:cNvSpPr>
            <a:spLocks noGrp="1"/>
          </p:cNvSpPr>
          <p:nvPr>
            <p:ph idx="1"/>
          </p:nvPr>
        </p:nvSpPr>
        <p:spPr/>
        <p:txBody>
          <a:bodyPr/>
          <a:lstStyle/>
          <a:p>
            <a:pPr marL="514350" indent="-514350">
              <a:buFont typeface="+mj-lt"/>
              <a:buAutoNum type="arabicPeriod"/>
            </a:pPr>
            <a:r>
              <a:rPr lang="en-US" dirty="0"/>
              <a:t>Run inference with </a:t>
            </a:r>
            <a:r>
              <a:rPr lang="en-US" dirty="0" err="1"/>
              <a:t>MedGemma</a:t>
            </a:r>
            <a:r>
              <a:rPr lang="en-US" dirty="0"/>
              <a:t> on 1,000 provided X-ray scans.</a:t>
            </a:r>
          </a:p>
          <a:p>
            <a:pPr marL="971530" lvl="1" indent="-514350">
              <a:buFont typeface="+mj-lt"/>
              <a:buAutoNum type="alphaLcPeriod"/>
            </a:pPr>
            <a:r>
              <a:rPr lang="en-US" dirty="0"/>
              <a:t>Saves study identifier, full generated text response, list of generated token strings, per-token log probability of predicted token, per-token predictive entropy approximated from top-20 </a:t>
            </a:r>
            <a:r>
              <a:rPr lang="en-US" dirty="0" err="1"/>
              <a:t>logprobs</a:t>
            </a:r>
            <a:r>
              <a:rPr lang="en-US" dirty="0"/>
              <a:t>.</a:t>
            </a:r>
          </a:p>
          <a:p>
            <a:pPr marL="514350" indent="-514350">
              <a:buFont typeface="+mj-lt"/>
              <a:buAutoNum type="arabicPeriod"/>
            </a:pPr>
            <a:r>
              <a:rPr lang="en-US" dirty="0"/>
              <a:t>Score </a:t>
            </a:r>
            <a:r>
              <a:rPr lang="en-US" dirty="0" err="1"/>
              <a:t>MedGemma</a:t>
            </a:r>
            <a:r>
              <a:rPr lang="en-US" dirty="0"/>
              <a:t> responses using CRIMSON.</a:t>
            </a:r>
          </a:p>
          <a:p>
            <a:pPr marL="971530" lvl="1" indent="-514350">
              <a:buFont typeface="+mj-lt"/>
              <a:buAutoNum type="alphaLcPeriod"/>
            </a:pPr>
            <a:r>
              <a:rPr lang="en-US" dirty="0"/>
              <a:t>Saves study identifier, CRIMSON raw score ∈ (−1, 1], CRIMSON error breakdown – counts of false findings, missing findings, and attribute errors by type (location, severity, descriptor, measurement, certainty, unspecific, overinterpretation, temporal).</a:t>
            </a:r>
          </a:p>
        </p:txBody>
      </p:sp>
    </p:spTree>
    <p:extLst>
      <p:ext uri="{BB962C8B-B14F-4D97-AF65-F5344CB8AC3E}">
        <p14:creationId xmlns:p14="http://schemas.microsoft.com/office/powerpoint/2010/main" val="107101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EB35-9323-C12A-83E6-6B117175E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29FD3-F360-2454-48BE-531B896275FE}"/>
              </a:ext>
            </a:extLst>
          </p:cNvPr>
          <p:cNvSpPr>
            <a:spLocks noGrp="1"/>
          </p:cNvSpPr>
          <p:nvPr>
            <p:ph type="title"/>
          </p:nvPr>
        </p:nvSpPr>
        <p:spPr/>
        <p:txBody>
          <a:bodyPr/>
          <a:lstStyle/>
          <a:p>
            <a:r>
              <a:rPr lang="en-US" dirty="0"/>
              <a:t>1. Setup</a:t>
            </a:r>
          </a:p>
        </p:txBody>
      </p:sp>
      <p:pic>
        <p:nvPicPr>
          <p:cNvPr id="7" name="Picture 6">
            <a:extLst>
              <a:ext uri="{FF2B5EF4-FFF2-40B4-BE49-F238E27FC236}">
                <a16:creationId xmlns:a16="http://schemas.microsoft.com/office/drawing/2014/main" id="{09A6C0C2-13A5-303A-0E6D-1D84135D2008}"/>
              </a:ext>
            </a:extLst>
          </p:cNvPr>
          <p:cNvPicPr>
            <a:picLocks noChangeAspect="1"/>
          </p:cNvPicPr>
          <p:nvPr/>
        </p:nvPicPr>
        <p:blipFill>
          <a:blip r:embed="rId2"/>
          <a:stretch>
            <a:fillRect/>
          </a:stretch>
        </p:blipFill>
        <p:spPr>
          <a:xfrm>
            <a:off x="2072640" y="1310876"/>
            <a:ext cx="8046720" cy="5029200"/>
          </a:xfrm>
          <a:prstGeom prst="rect">
            <a:avLst/>
          </a:prstGeom>
        </p:spPr>
      </p:pic>
    </p:spTree>
    <p:extLst>
      <p:ext uri="{BB962C8B-B14F-4D97-AF65-F5344CB8AC3E}">
        <p14:creationId xmlns:p14="http://schemas.microsoft.com/office/powerpoint/2010/main" val="3950388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5A7B7-D1DE-814C-1AC4-8E032D861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4591F-6A76-2644-6730-5AFFE18EDDD1}"/>
              </a:ext>
            </a:extLst>
          </p:cNvPr>
          <p:cNvSpPr>
            <a:spLocks noGrp="1"/>
          </p:cNvSpPr>
          <p:nvPr>
            <p:ph type="title"/>
          </p:nvPr>
        </p:nvSpPr>
        <p:spPr/>
        <p:txBody>
          <a:bodyPr/>
          <a:lstStyle/>
          <a:p>
            <a:r>
              <a:rPr lang="en-US" dirty="0"/>
              <a:t>1. Setup</a:t>
            </a:r>
          </a:p>
        </p:txBody>
      </p:sp>
      <p:pic>
        <p:nvPicPr>
          <p:cNvPr id="4" name="Picture 3">
            <a:extLst>
              <a:ext uri="{FF2B5EF4-FFF2-40B4-BE49-F238E27FC236}">
                <a16:creationId xmlns:a16="http://schemas.microsoft.com/office/drawing/2014/main" id="{A7C13194-2C57-9786-F30F-780DA25872F2}"/>
              </a:ext>
            </a:extLst>
          </p:cNvPr>
          <p:cNvPicPr>
            <a:picLocks noChangeAspect="1"/>
          </p:cNvPicPr>
          <p:nvPr/>
        </p:nvPicPr>
        <p:blipFill>
          <a:blip r:embed="rId2"/>
          <a:stretch>
            <a:fillRect/>
          </a:stretch>
        </p:blipFill>
        <p:spPr>
          <a:xfrm>
            <a:off x="1066800" y="1310876"/>
            <a:ext cx="10058400" cy="5029200"/>
          </a:xfrm>
          <a:prstGeom prst="rect">
            <a:avLst/>
          </a:prstGeom>
        </p:spPr>
      </p:pic>
    </p:spTree>
    <p:extLst>
      <p:ext uri="{BB962C8B-B14F-4D97-AF65-F5344CB8AC3E}">
        <p14:creationId xmlns:p14="http://schemas.microsoft.com/office/powerpoint/2010/main" val="3920735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8B2FD-2EB5-01F8-B47F-7779366A81CE}"/>
              </a:ext>
            </a:extLst>
          </p:cNvPr>
          <p:cNvSpPr>
            <a:spLocks noGrp="1"/>
          </p:cNvSpPr>
          <p:nvPr>
            <p:ph type="title"/>
          </p:nvPr>
        </p:nvSpPr>
        <p:spPr/>
        <p:txBody>
          <a:bodyPr>
            <a:normAutofit/>
          </a:bodyPr>
          <a:lstStyle/>
          <a:p>
            <a:r>
              <a:rPr lang="en-US" dirty="0"/>
              <a:t>2. Sources of Confidence Information</a:t>
            </a:r>
          </a:p>
        </p:txBody>
      </p:sp>
      <p:sp>
        <p:nvSpPr>
          <p:cNvPr id="3" name="Content Placeholder 2">
            <a:extLst>
              <a:ext uri="{FF2B5EF4-FFF2-40B4-BE49-F238E27FC236}">
                <a16:creationId xmlns:a16="http://schemas.microsoft.com/office/drawing/2014/main" id="{7B2077E4-C7EB-C0A7-291B-B7899649894F}"/>
              </a:ext>
            </a:extLst>
          </p:cNvPr>
          <p:cNvSpPr>
            <a:spLocks noGrp="1"/>
          </p:cNvSpPr>
          <p:nvPr>
            <p:ph idx="1"/>
          </p:nvPr>
        </p:nvSpPr>
        <p:spPr/>
        <p:txBody>
          <a:bodyPr/>
          <a:lstStyle/>
          <a:p>
            <a:r>
              <a:rPr lang="en-US" dirty="0"/>
              <a:t>2.1 Logit-Based Confidence</a:t>
            </a:r>
          </a:p>
          <a:p>
            <a:r>
              <a:rPr lang="en-US" dirty="0"/>
              <a:t>2.2 Consistency under Input Perturbation</a:t>
            </a:r>
          </a:p>
          <a:p>
            <a:r>
              <a:rPr lang="en-US" dirty="0"/>
              <a:t>2.3 Consistency during Sampling</a:t>
            </a:r>
          </a:p>
          <a:p>
            <a:r>
              <a:rPr lang="en-US" dirty="0"/>
              <a:t>2.4 Vision-Text Grounding</a:t>
            </a:r>
          </a:p>
          <a:p>
            <a:r>
              <a:rPr lang="en-US" dirty="0"/>
              <a:t>2.5 Hidden-State Probing</a:t>
            </a:r>
          </a:p>
          <a:p>
            <a:r>
              <a:rPr lang="en-US" dirty="0"/>
              <a:t>2.6 Explicit Human Feedback</a:t>
            </a:r>
          </a:p>
          <a:p>
            <a:r>
              <a:rPr lang="en-US" dirty="0"/>
              <a:t>2.7 Implicit Human Feedback</a:t>
            </a:r>
          </a:p>
        </p:txBody>
      </p:sp>
    </p:spTree>
    <p:extLst>
      <p:ext uri="{BB962C8B-B14F-4D97-AF65-F5344CB8AC3E}">
        <p14:creationId xmlns:p14="http://schemas.microsoft.com/office/powerpoint/2010/main" val="1142751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D4A2D-C563-4268-20CE-97D19F1A2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33EA6-0F85-F4A4-14E6-AE51C5BD5F3F}"/>
              </a:ext>
            </a:extLst>
          </p:cNvPr>
          <p:cNvSpPr>
            <a:spLocks noGrp="1"/>
          </p:cNvSpPr>
          <p:nvPr>
            <p:ph type="title"/>
          </p:nvPr>
        </p:nvSpPr>
        <p:spPr/>
        <p:txBody>
          <a:bodyPr>
            <a:normAutofit/>
          </a:bodyPr>
          <a:lstStyle/>
          <a:p>
            <a:r>
              <a:rPr lang="en-US" dirty="0"/>
              <a:t>2. Sources of Confidence Information</a:t>
            </a:r>
          </a:p>
        </p:txBody>
      </p:sp>
      <p:sp>
        <p:nvSpPr>
          <p:cNvPr id="3" name="Content Placeholder 2">
            <a:extLst>
              <a:ext uri="{FF2B5EF4-FFF2-40B4-BE49-F238E27FC236}">
                <a16:creationId xmlns:a16="http://schemas.microsoft.com/office/drawing/2014/main" id="{84D53A34-5A20-F1B1-FB87-5B6873BD3199}"/>
              </a:ext>
            </a:extLst>
          </p:cNvPr>
          <p:cNvSpPr>
            <a:spLocks noGrp="1"/>
          </p:cNvSpPr>
          <p:nvPr>
            <p:ph idx="1"/>
          </p:nvPr>
        </p:nvSpPr>
        <p:spPr/>
        <p:txBody>
          <a:bodyPr/>
          <a:lstStyle/>
          <a:p>
            <a:r>
              <a:rPr lang="en-US" b="1" dirty="0"/>
              <a:t>2.1 Logit-Based Confidence</a:t>
            </a:r>
          </a:p>
          <a:p>
            <a:r>
              <a:rPr lang="en-US" b="1" dirty="0"/>
              <a:t>2.2 Consistency under Input Perturbation</a:t>
            </a:r>
          </a:p>
          <a:p>
            <a:r>
              <a:rPr lang="en-US" b="1" dirty="0"/>
              <a:t>2.3 Consistency during Sampling</a:t>
            </a:r>
          </a:p>
          <a:p>
            <a:r>
              <a:rPr lang="en-US" dirty="0"/>
              <a:t>2.4 Vision-Text Grounding – requires access to internal states</a:t>
            </a:r>
          </a:p>
          <a:p>
            <a:r>
              <a:rPr lang="en-US" dirty="0"/>
              <a:t>2.5 Hidden-State Probing – internal states + more data</a:t>
            </a:r>
          </a:p>
          <a:p>
            <a:r>
              <a:rPr lang="en-US" dirty="0"/>
              <a:t>2.6 Explicit Human Feedback – user interaction data </a:t>
            </a:r>
          </a:p>
          <a:p>
            <a:r>
              <a:rPr lang="en-US" dirty="0"/>
              <a:t>2.7 Implicit Human Feedback – user behavioral data </a:t>
            </a:r>
          </a:p>
        </p:txBody>
      </p:sp>
    </p:spTree>
    <p:extLst>
      <p:ext uri="{BB962C8B-B14F-4D97-AF65-F5344CB8AC3E}">
        <p14:creationId xmlns:p14="http://schemas.microsoft.com/office/powerpoint/2010/main" val="1825406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D582-3C6C-DAA3-5824-C16E6ED8C86D}"/>
              </a:ext>
            </a:extLst>
          </p:cNvPr>
          <p:cNvSpPr>
            <a:spLocks noGrp="1"/>
          </p:cNvSpPr>
          <p:nvPr>
            <p:ph type="title"/>
          </p:nvPr>
        </p:nvSpPr>
        <p:spPr/>
        <p:txBody>
          <a:bodyPr>
            <a:normAutofit/>
          </a:bodyPr>
          <a:lstStyle/>
          <a:p>
            <a:r>
              <a:rPr lang="en-US" dirty="0"/>
              <a:t>2.1 Logit-Based Confidence</a:t>
            </a:r>
          </a:p>
        </p:txBody>
      </p:sp>
      <p:sp>
        <p:nvSpPr>
          <p:cNvPr id="3" name="Content Placeholder 2">
            <a:extLst>
              <a:ext uri="{FF2B5EF4-FFF2-40B4-BE49-F238E27FC236}">
                <a16:creationId xmlns:a16="http://schemas.microsoft.com/office/drawing/2014/main" id="{EC77EBF5-19D6-B7BB-0C0A-7B18CD750FCA}"/>
              </a:ext>
            </a:extLst>
          </p:cNvPr>
          <p:cNvSpPr>
            <a:spLocks noGrp="1"/>
          </p:cNvSpPr>
          <p:nvPr>
            <p:ph idx="1"/>
          </p:nvPr>
        </p:nvSpPr>
        <p:spPr/>
        <p:txBody>
          <a:bodyPr/>
          <a:lstStyle/>
          <a:p>
            <a:r>
              <a:rPr lang="en-US" dirty="0"/>
              <a:t>During generation, the model outputs a probability distribution over its vocabulary at each step, which reflects how certain it is about each token. </a:t>
            </a:r>
          </a:p>
          <a:p>
            <a:r>
              <a:rPr lang="en-US" dirty="0"/>
              <a:t>Low log-probabilities and high entropy indicate that the model was uncertain in its predictions, which tends to correlate with lower-quality or incorrect responses. </a:t>
            </a:r>
          </a:p>
          <a:p>
            <a:r>
              <a:rPr lang="en-US" dirty="0"/>
              <a:t>These token-level signals are cheap to collect during inference and require no additional forward passes.</a:t>
            </a:r>
          </a:p>
        </p:txBody>
      </p:sp>
    </p:spTree>
    <p:extLst>
      <p:ext uri="{BB962C8B-B14F-4D97-AF65-F5344CB8AC3E}">
        <p14:creationId xmlns:p14="http://schemas.microsoft.com/office/powerpoint/2010/main" val="328225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F75FE-5F1A-7528-FA8C-92118506A24C}"/>
              </a:ext>
            </a:extLst>
          </p:cNvPr>
          <p:cNvSpPr>
            <a:spLocks noGrp="1"/>
          </p:cNvSpPr>
          <p:nvPr>
            <p:ph type="title"/>
          </p:nvPr>
        </p:nvSpPr>
        <p:spPr/>
        <p:txBody>
          <a:bodyPr/>
          <a:lstStyle/>
          <a:p>
            <a:r>
              <a:rPr lang="en-US" dirty="0"/>
              <a:t>2.1 Logit-Based Confidence</a:t>
            </a:r>
          </a:p>
        </p:txBody>
      </p:sp>
      <p:sp>
        <p:nvSpPr>
          <p:cNvPr id="3" name="Content Placeholder 2">
            <a:extLst>
              <a:ext uri="{FF2B5EF4-FFF2-40B4-BE49-F238E27FC236}">
                <a16:creationId xmlns:a16="http://schemas.microsoft.com/office/drawing/2014/main" id="{71F22E34-0A9A-608C-653F-49356879A638}"/>
              </a:ext>
            </a:extLst>
          </p:cNvPr>
          <p:cNvSpPr>
            <a:spLocks noGrp="1"/>
          </p:cNvSpPr>
          <p:nvPr>
            <p:ph idx="1"/>
          </p:nvPr>
        </p:nvSpPr>
        <p:spPr/>
        <p:txBody>
          <a:bodyPr>
            <a:normAutofit fontScale="85000" lnSpcReduction="20000"/>
          </a:bodyPr>
          <a:lstStyle/>
          <a:p>
            <a:pPr marL="0" indent="0">
              <a:buNone/>
            </a:pPr>
            <a:r>
              <a:rPr lang="en-US" b="1" dirty="0"/>
              <a:t>Log-probability metrics:</a:t>
            </a:r>
          </a:p>
          <a:p>
            <a:r>
              <a:rPr lang="en-US" dirty="0"/>
              <a:t>Minimum token log probability</a:t>
            </a:r>
          </a:p>
          <a:p>
            <a:r>
              <a:rPr lang="en-US" dirty="0"/>
              <a:t>Average token log probability</a:t>
            </a:r>
          </a:p>
          <a:p>
            <a:r>
              <a:rPr lang="en-US" dirty="0"/>
              <a:t>Variance of token log probabilities </a:t>
            </a:r>
          </a:p>
          <a:p>
            <a:r>
              <a:rPr lang="en-US" dirty="0"/>
              <a:t>5th-percentile token log probability</a:t>
            </a:r>
          </a:p>
          <a:p>
            <a:r>
              <a:rPr lang="en-US" dirty="0"/>
              <a:t>10th-percentile token log probability</a:t>
            </a:r>
          </a:p>
          <a:p>
            <a:r>
              <a:rPr lang="en-US" dirty="0"/>
              <a:t>Mean of the k lowest token log probabilities </a:t>
            </a:r>
          </a:p>
          <a:p>
            <a:r>
              <a:rPr lang="en-US" dirty="0"/>
              <a:t>Average token log probability weighted by word order</a:t>
            </a:r>
          </a:p>
          <a:p>
            <a:pPr lvl="1"/>
            <a:r>
              <a:rPr lang="en-US" dirty="0"/>
              <a:t>earlier tokens weighted higher, assuming they set diagnostic context</a:t>
            </a:r>
          </a:p>
          <a:p>
            <a:r>
              <a:rPr lang="en-US" dirty="0"/>
              <a:t>Average token log probability weighted by semantic significance </a:t>
            </a:r>
          </a:p>
          <a:p>
            <a:pPr lvl="1"/>
            <a:r>
              <a:rPr lang="en-US" dirty="0"/>
              <a:t>content words weighted over filler (i.e., articles, prepositions, conjunctions)</a:t>
            </a:r>
          </a:p>
          <a:p>
            <a:r>
              <a:rPr lang="en-US" dirty="0"/>
              <a:t>Average token log probability weighted by ontology importance</a:t>
            </a:r>
          </a:p>
          <a:p>
            <a:pPr lvl="1"/>
            <a:r>
              <a:rPr lang="en-US" dirty="0"/>
              <a:t>currently uses </a:t>
            </a:r>
            <a:r>
              <a:rPr lang="en-US" dirty="0" err="1"/>
              <a:t>RadLex</a:t>
            </a:r>
            <a:r>
              <a:rPr lang="en-US" dirty="0"/>
              <a:t> lexicon to upweight clinically relevant words</a:t>
            </a:r>
          </a:p>
        </p:txBody>
      </p:sp>
    </p:spTree>
    <p:extLst>
      <p:ext uri="{BB962C8B-B14F-4D97-AF65-F5344CB8AC3E}">
        <p14:creationId xmlns:p14="http://schemas.microsoft.com/office/powerpoint/2010/main" val="596838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11F51-4367-1AB6-7551-8F3E1C2AE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D0D1-E6FA-1776-AFB3-486057A78EDD}"/>
              </a:ext>
            </a:extLst>
          </p:cNvPr>
          <p:cNvSpPr>
            <a:spLocks noGrp="1"/>
          </p:cNvSpPr>
          <p:nvPr>
            <p:ph type="title"/>
          </p:nvPr>
        </p:nvSpPr>
        <p:spPr/>
        <p:txBody>
          <a:bodyPr/>
          <a:lstStyle/>
          <a:p>
            <a:r>
              <a:rPr lang="en-US" dirty="0"/>
              <a:t>2.1 Logit-Based Confidence</a:t>
            </a:r>
          </a:p>
        </p:txBody>
      </p:sp>
      <p:sp>
        <p:nvSpPr>
          <p:cNvPr id="3" name="Content Placeholder 2">
            <a:extLst>
              <a:ext uri="{FF2B5EF4-FFF2-40B4-BE49-F238E27FC236}">
                <a16:creationId xmlns:a16="http://schemas.microsoft.com/office/drawing/2014/main" id="{43584E25-7571-6946-EB35-E973A705AAC2}"/>
              </a:ext>
            </a:extLst>
          </p:cNvPr>
          <p:cNvSpPr>
            <a:spLocks noGrp="1"/>
          </p:cNvSpPr>
          <p:nvPr>
            <p:ph idx="1"/>
          </p:nvPr>
        </p:nvSpPr>
        <p:spPr/>
        <p:txBody>
          <a:bodyPr>
            <a:normAutofit fontScale="85000" lnSpcReduction="20000"/>
          </a:bodyPr>
          <a:lstStyle/>
          <a:p>
            <a:pPr marL="0" indent="0">
              <a:buNone/>
            </a:pPr>
            <a:r>
              <a:rPr lang="en-US" b="1" dirty="0"/>
              <a:t>Entropy metrics:</a:t>
            </a:r>
          </a:p>
          <a:p>
            <a:r>
              <a:rPr lang="en-US" dirty="0"/>
              <a:t>Maximum token entropy</a:t>
            </a:r>
          </a:p>
          <a:p>
            <a:r>
              <a:rPr lang="en-US" dirty="0"/>
              <a:t>Average token entropy</a:t>
            </a:r>
          </a:p>
          <a:p>
            <a:r>
              <a:rPr lang="en-US" dirty="0"/>
              <a:t>Variance of token entropy</a:t>
            </a:r>
          </a:p>
          <a:p>
            <a:r>
              <a:rPr lang="en-US" dirty="0"/>
              <a:t>90th-percentile token entropy</a:t>
            </a:r>
          </a:p>
          <a:p>
            <a:r>
              <a:rPr lang="en-US" dirty="0"/>
              <a:t>95th-percentile token entropy</a:t>
            </a:r>
          </a:p>
          <a:p>
            <a:r>
              <a:rPr lang="en-US" dirty="0"/>
              <a:t>Mean of the k highest token entropies</a:t>
            </a:r>
          </a:p>
          <a:p>
            <a:r>
              <a:rPr lang="en-US" dirty="0"/>
              <a:t>Average token entropy weighted by word order</a:t>
            </a:r>
          </a:p>
          <a:p>
            <a:pPr lvl="1"/>
            <a:r>
              <a:rPr lang="en-US" dirty="0"/>
              <a:t>earlier tokens weighted higher, assuming they set diagnostic context</a:t>
            </a:r>
          </a:p>
          <a:p>
            <a:r>
              <a:rPr lang="en-US" dirty="0"/>
              <a:t>Average token entropy weighted by semantic significance</a:t>
            </a:r>
          </a:p>
          <a:p>
            <a:pPr lvl="1"/>
            <a:r>
              <a:rPr lang="en-US" dirty="0"/>
              <a:t>content words weighted over filler (i.e., articles, prepositions, conjunctions)</a:t>
            </a:r>
          </a:p>
          <a:p>
            <a:r>
              <a:rPr lang="en-US" dirty="0"/>
              <a:t>Average token entropy weighted by ontology importance</a:t>
            </a:r>
          </a:p>
          <a:p>
            <a:pPr lvl="1"/>
            <a:r>
              <a:rPr lang="en-US" dirty="0"/>
              <a:t>currently uses </a:t>
            </a:r>
            <a:r>
              <a:rPr lang="en-US" dirty="0" err="1"/>
              <a:t>RadLex</a:t>
            </a:r>
            <a:r>
              <a:rPr lang="en-US" dirty="0"/>
              <a:t> lexicon to upweight clinically relevant words</a:t>
            </a:r>
          </a:p>
        </p:txBody>
      </p:sp>
    </p:spTree>
    <p:extLst>
      <p:ext uri="{BB962C8B-B14F-4D97-AF65-F5344CB8AC3E}">
        <p14:creationId xmlns:p14="http://schemas.microsoft.com/office/powerpoint/2010/main" val="329817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96009-857F-B267-CD38-67D819E48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7C4C4-A8E7-AE76-6B0D-931B651B8C16}"/>
              </a:ext>
            </a:extLst>
          </p:cNvPr>
          <p:cNvSpPr>
            <a:spLocks noGrp="1"/>
          </p:cNvSpPr>
          <p:nvPr>
            <p:ph type="title"/>
          </p:nvPr>
        </p:nvSpPr>
        <p:spPr/>
        <p:txBody>
          <a:bodyPr>
            <a:normAutofit/>
          </a:bodyPr>
          <a:lstStyle/>
          <a:p>
            <a:r>
              <a:rPr lang="en-US" dirty="0"/>
              <a:t>2.2 Consistency under Input Perturbation</a:t>
            </a:r>
          </a:p>
        </p:txBody>
      </p:sp>
      <p:sp>
        <p:nvSpPr>
          <p:cNvPr id="3" name="Content Placeholder 2">
            <a:extLst>
              <a:ext uri="{FF2B5EF4-FFF2-40B4-BE49-F238E27FC236}">
                <a16:creationId xmlns:a16="http://schemas.microsoft.com/office/drawing/2014/main" id="{9AD30A34-BE45-ABE0-5262-A99747B75A8B}"/>
              </a:ext>
            </a:extLst>
          </p:cNvPr>
          <p:cNvSpPr>
            <a:spLocks noGrp="1"/>
          </p:cNvSpPr>
          <p:nvPr>
            <p:ph idx="1"/>
          </p:nvPr>
        </p:nvSpPr>
        <p:spPr/>
        <p:txBody>
          <a:bodyPr/>
          <a:lstStyle/>
          <a:p>
            <a:r>
              <a:rPr lang="en-US" dirty="0"/>
              <a:t>A confident model should produce similar responses when the input is slightly perturbed, while an uncertain model is more sensitive to small changes. </a:t>
            </a:r>
          </a:p>
          <a:p>
            <a:r>
              <a:rPr lang="en-US" dirty="0"/>
              <a:t>By generating multiple responses under controlled input perturbations and measuring how much the output changes, we can estimate model uncertainty without requiring additional model components or external supervision.</a:t>
            </a:r>
          </a:p>
          <a:p>
            <a:endParaRPr lang="en-US" dirty="0"/>
          </a:p>
        </p:txBody>
      </p:sp>
    </p:spTree>
    <p:extLst>
      <p:ext uri="{BB962C8B-B14F-4D97-AF65-F5344CB8AC3E}">
        <p14:creationId xmlns:p14="http://schemas.microsoft.com/office/powerpoint/2010/main" val="3492232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D0D0E-0469-760E-AD0E-9AE498D47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F5293-9D88-6896-ED57-FA8AF80FEBE6}"/>
              </a:ext>
            </a:extLst>
          </p:cNvPr>
          <p:cNvSpPr>
            <a:spLocks noGrp="1"/>
          </p:cNvSpPr>
          <p:nvPr>
            <p:ph type="title"/>
          </p:nvPr>
        </p:nvSpPr>
        <p:spPr/>
        <p:txBody>
          <a:bodyPr/>
          <a:lstStyle/>
          <a:p>
            <a:r>
              <a:rPr lang="en-US" dirty="0"/>
              <a:t>2.2 Consistency under Input Perturbation</a:t>
            </a:r>
          </a:p>
        </p:txBody>
      </p:sp>
      <p:sp>
        <p:nvSpPr>
          <p:cNvPr id="3" name="Content Placeholder 2">
            <a:extLst>
              <a:ext uri="{FF2B5EF4-FFF2-40B4-BE49-F238E27FC236}">
                <a16:creationId xmlns:a16="http://schemas.microsoft.com/office/drawing/2014/main" id="{80F42265-44DF-77B4-C7BD-F844036CD647}"/>
              </a:ext>
            </a:extLst>
          </p:cNvPr>
          <p:cNvSpPr>
            <a:spLocks noGrp="1"/>
          </p:cNvSpPr>
          <p:nvPr>
            <p:ph idx="1"/>
          </p:nvPr>
        </p:nvSpPr>
        <p:spPr/>
        <p:txBody>
          <a:bodyPr>
            <a:normAutofit fontScale="92500"/>
          </a:bodyPr>
          <a:lstStyle/>
          <a:p>
            <a:pPr marL="0" indent="0">
              <a:buNone/>
            </a:pPr>
            <a:r>
              <a:rPr lang="en-US" b="1" dirty="0"/>
              <a:t>Per-perturbation-type metrics:</a:t>
            </a:r>
          </a:p>
          <a:p>
            <a:r>
              <a:rPr lang="en-US" dirty="0"/>
              <a:t>Mean ROUGE-1 F1 between each noise-perturbed response and original</a:t>
            </a:r>
          </a:p>
          <a:p>
            <a:r>
              <a:rPr lang="en-US" dirty="0"/>
              <a:t>Mean ROUGE-L F1 for noise perturbations</a:t>
            </a:r>
          </a:p>
          <a:p>
            <a:r>
              <a:rPr lang="en-US" dirty="0"/>
              <a:t>Mean ROUGE-1 F1 between each blur-perturbed response and original </a:t>
            </a:r>
          </a:p>
          <a:p>
            <a:r>
              <a:rPr lang="en-US" dirty="0"/>
              <a:t>Mean ROUGE-L F1 for blur perturbations</a:t>
            </a:r>
          </a:p>
          <a:p>
            <a:pPr marL="0" indent="0">
              <a:buNone/>
            </a:pPr>
            <a:r>
              <a:rPr lang="en-US" b="1" dirty="0"/>
              <a:t>Aggregate metrics:</a:t>
            </a:r>
          </a:p>
          <a:p>
            <a:r>
              <a:rPr lang="en-US" dirty="0"/>
              <a:t>Mean ROUGE-1 F1 averaged across all perturbation types and samples</a:t>
            </a:r>
          </a:p>
          <a:p>
            <a:r>
              <a:rPr lang="en-US" dirty="0"/>
              <a:t>Mean ROUGE-L F1 averaged across all perturbation types and samples</a:t>
            </a:r>
          </a:p>
        </p:txBody>
      </p:sp>
      <p:sp>
        <p:nvSpPr>
          <p:cNvPr id="5" name="TextBox 4">
            <a:extLst>
              <a:ext uri="{FF2B5EF4-FFF2-40B4-BE49-F238E27FC236}">
                <a16:creationId xmlns:a16="http://schemas.microsoft.com/office/drawing/2014/main" id="{EB83261B-493D-14D3-EC81-583D16DBE445}"/>
              </a:ext>
            </a:extLst>
          </p:cNvPr>
          <p:cNvSpPr txBox="1"/>
          <p:nvPr/>
        </p:nvSpPr>
        <p:spPr>
          <a:xfrm>
            <a:off x="312419" y="6007687"/>
            <a:ext cx="11346181" cy="338554"/>
          </a:xfrm>
          <a:prstGeom prst="rect">
            <a:avLst/>
          </a:prstGeom>
          <a:noFill/>
        </p:spPr>
        <p:txBody>
          <a:bodyPr wrap="square">
            <a:spAutoFit/>
          </a:bodyPr>
          <a:lstStyle/>
          <a:p>
            <a:r>
              <a:rPr lang="en-US" sz="1600" dirty="0"/>
              <a:t>ROUGE Reference: </a:t>
            </a:r>
            <a:r>
              <a:rPr lang="en-US" sz="1600" dirty="0">
                <a:hlinkClick r:id="rId2"/>
              </a:rPr>
              <a:t>https://medium.com/nlplanet/two-minutes-nlp-learn-the-rouge-metric-by-examples-f179cc285499</a:t>
            </a:r>
            <a:endParaRPr lang="en-US" sz="1600" dirty="0"/>
          </a:p>
        </p:txBody>
      </p:sp>
    </p:spTree>
    <p:extLst>
      <p:ext uri="{BB962C8B-B14F-4D97-AF65-F5344CB8AC3E}">
        <p14:creationId xmlns:p14="http://schemas.microsoft.com/office/powerpoint/2010/main" val="2643637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0FA66-0D4B-93F1-EF2B-E7DBE573B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66D76-F6EE-ACEA-EC0D-D63F487E64A8}"/>
              </a:ext>
            </a:extLst>
          </p:cNvPr>
          <p:cNvSpPr>
            <a:spLocks noGrp="1"/>
          </p:cNvSpPr>
          <p:nvPr>
            <p:ph type="title"/>
          </p:nvPr>
        </p:nvSpPr>
        <p:spPr/>
        <p:txBody>
          <a:bodyPr>
            <a:normAutofit/>
          </a:bodyPr>
          <a:lstStyle/>
          <a:p>
            <a:r>
              <a:rPr lang="en-US" dirty="0"/>
              <a:t>2.3 Consistency during Sampling</a:t>
            </a:r>
          </a:p>
        </p:txBody>
      </p:sp>
      <p:sp>
        <p:nvSpPr>
          <p:cNvPr id="3" name="Content Placeholder 2">
            <a:extLst>
              <a:ext uri="{FF2B5EF4-FFF2-40B4-BE49-F238E27FC236}">
                <a16:creationId xmlns:a16="http://schemas.microsoft.com/office/drawing/2014/main" id="{3529CB92-06F8-0894-D013-3974126DF40C}"/>
              </a:ext>
            </a:extLst>
          </p:cNvPr>
          <p:cNvSpPr>
            <a:spLocks noGrp="1"/>
          </p:cNvSpPr>
          <p:nvPr>
            <p:ph idx="1"/>
          </p:nvPr>
        </p:nvSpPr>
        <p:spPr/>
        <p:txBody>
          <a:bodyPr/>
          <a:lstStyle/>
          <a:p>
            <a:r>
              <a:rPr lang="en-US" dirty="0"/>
              <a:t>Under temperature sampling, a model draws responses stochastically rather than greedily, producing different outputs on each forward pass. </a:t>
            </a:r>
          </a:p>
          <a:p>
            <a:r>
              <a:rPr lang="en-US" dirty="0"/>
              <a:t>A confident model will produce responses with low variance across samples, while an uncertain model will produce inconsistent or contradictory outputs. </a:t>
            </a:r>
          </a:p>
        </p:txBody>
      </p:sp>
    </p:spTree>
    <p:extLst>
      <p:ext uri="{BB962C8B-B14F-4D97-AF65-F5344CB8AC3E}">
        <p14:creationId xmlns:p14="http://schemas.microsoft.com/office/powerpoint/2010/main" val="376593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2DC2C-FDF6-52B6-FD2C-5C6FBB918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AB471-442C-B011-33A8-9508531F76E1}"/>
              </a:ext>
            </a:extLst>
          </p:cNvPr>
          <p:cNvSpPr>
            <a:spLocks noGrp="1"/>
          </p:cNvSpPr>
          <p:nvPr>
            <p:ph type="title"/>
          </p:nvPr>
        </p:nvSpPr>
        <p:spPr/>
        <p:txBody>
          <a:bodyPr/>
          <a:lstStyle/>
          <a:p>
            <a:r>
              <a:rPr lang="en-US" dirty="0"/>
              <a:t>2.3 Consistency during Sampling</a:t>
            </a:r>
          </a:p>
        </p:txBody>
      </p:sp>
      <p:sp>
        <p:nvSpPr>
          <p:cNvPr id="3" name="Content Placeholder 2">
            <a:extLst>
              <a:ext uri="{FF2B5EF4-FFF2-40B4-BE49-F238E27FC236}">
                <a16:creationId xmlns:a16="http://schemas.microsoft.com/office/drawing/2014/main" id="{7684F1DF-E647-C8F4-8808-C2CDE67ED437}"/>
              </a:ext>
            </a:extLst>
          </p:cNvPr>
          <p:cNvSpPr>
            <a:spLocks noGrp="1"/>
          </p:cNvSpPr>
          <p:nvPr>
            <p:ph idx="1"/>
          </p:nvPr>
        </p:nvSpPr>
        <p:spPr/>
        <p:txBody>
          <a:bodyPr>
            <a:normAutofit/>
          </a:bodyPr>
          <a:lstStyle/>
          <a:p>
            <a:pPr marL="0" indent="0">
              <a:buNone/>
            </a:pPr>
            <a:r>
              <a:rPr lang="en-US" b="1" dirty="0"/>
              <a:t>Pairwise stability metrics:</a:t>
            </a:r>
          </a:p>
          <a:p>
            <a:r>
              <a:rPr lang="en-US" dirty="0"/>
              <a:t>Mean ROUGE-1 F1 across all unique pairs of sampled responses </a:t>
            </a:r>
          </a:p>
          <a:p>
            <a:pPr lvl="1"/>
            <a:r>
              <a:rPr lang="en-US" dirty="0"/>
              <a:t>measures intrinsic output variance under stochastic decoding</a:t>
            </a:r>
          </a:p>
          <a:p>
            <a:r>
              <a:rPr lang="en-US" dirty="0"/>
              <a:t>Mean ROUGE-L F1 across all unique pairs of sampled responses</a:t>
            </a:r>
          </a:p>
          <a:p>
            <a:pPr marL="0" indent="0">
              <a:buNone/>
            </a:pPr>
            <a:r>
              <a:rPr lang="en-US" b="1" dirty="0"/>
              <a:t>Greedy-anchored stability metrics:</a:t>
            </a:r>
          </a:p>
          <a:p>
            <a:r>
              <a:rPr lang="en-US" dirty="0"/>
              <a:t>Mean ROUGE-1 F1 of each sampled response against the original greedy response</a:t>
            </a:r>
          </a:p>
          <a:p>
            <a:pPr lvl="1"/>
            <a:r>
              <a:rPr lang="en-US" dirty="0"/>
              <a:t>measures how far stochastic decoding drifts from deterministic response</a:t>
            </a:r>
          </a:p>
          <a:p>
            <a:r>
              <a:rPr lang="en-US" dirty="0"/>
              <a:t>Mean ROUGE-L F1 of each sampled response against the original</a:t>
            </a:r>
          </a:p>
        </p:txBody>
      </p:sp>
    </p:spTree>
    <p:extLst>
      <p:ext uri="{BB962C8B-B14F-4D97-AF65-F5344CB8AC3E}">
        <p14:creationId xmlns:p14="http://schemas.microsoft.com/office/powerpoint/2010/main" val="74069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DB2B9-B615-DA45-E912-8A34B2C9596F}"/>
              </a:ext>
            </a:extLst>
          </p:cNvPr>
          <p:cNvSpPr>
            <a:spLocks noGrp="1"/>
          </p:cNvSpPr>
          <p:nvPr>
            <p:ph type="title"/>
          </p:nvPr>
        </p:nvSpPr>
        <p:spPr/>
        <p:txBody>
          <a:bodyPr/>
          <a:lstStyle/>
          <a:p>
            <a:r>
              <a:rPr lang="en-US" dirty="0"/>
              <a:t>3. Confidence Calibration and Evaluation</a:t>
            </a:r>
          </a:p>
        </p:txBody>
      </p:sp>
      <p:sp>
        <p:nvSpPr>
          <p:cNvPr id="3" name="Content Placeholder 2">
            <a:extLst>
              <a:ext uri="{FF2B5EF4-FFF2-40B4-BE49-F238E27FC236}">
                <a16:creationId xmlns:a16="http://schemas.microsoft.com/office/drawing/2014/main" id="{D169FF1C-9B19-2730-13A8-D930A89E56E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04341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F2C2-152D-E5B8-877C-15A298787BC7}"/>
              </a:ext>
            </a:extLst>
          </p:cNvPr>
          <p:cNvSpPr>
            <a:spLocks noGrp="1"/>
          </p:cNvSpPr>
          <p:nvPr>
            <p:ph type="title"/>
          </p:nvPr>
        </p:nvSpPr>
        <p:spPr/>
        <p:txBody>
          <a:bodyPr/>
          <a:lstStyle/>
          <a:p>
            <a:r>
              <a:rPr lang="en-US" dirty="0"/>
              <a:t>3.2 Combining Multiple Signals</a:t>
            </a:r>
          </a:p>
        </p:txBody>
      </p:sp>
      <p:sp>
        <p:nvSpPr>
          <p:cNvPr id="3" name="Content Placeholder 2">
            <a:extLst>
              <a:ext uri="{FF2B5EF4-FFF2-40B4-BE49-F238E27FC236}">
                <a16:creationId xmlns:a16="http://schemas.microsoft.com/office/drawing/2014/main" id="{9E9211CF-55A9-A1C6-CCED-BF32D0E9B279}"/>
              </a:ext>
            </a:extLst>
          </p:cNvPr>
          <p:cNvSpPr>
            <a:spLocks noGrp="1"/>
          </p:cNvSpPr>
          <p:nvPr>
            <p:ph idx="1"/>
          </p:nvPr>
        </p:nvSpPr>
        <p:spPr/>
        <p:txBody>
          <a:bodyPr/>
          <a:lstStyle/>
          <a:p>
            <a:r>
              <a:rPr lang="en-US" dirty="0"/>
              <a:t>Each method in Sections 2.1–2.3 can be calibrated independently, but signals from different methods can also be combined into a single joint calibration. </a:t>
            </a:r>
          </a:p>
          <a:p>
            <a:r>
              <a:rPr lang="en-US" dirty="0"/>
              <a:t>Currently, we choose features via greedy forward selection, fit a logistic regression over the selected features, and produce a combined score, capturing the probability a report is incorrect.</a:t>
            </a:r>
          </a:p>
        </p:txBody>
      </p:sp>
    </p:spTree>
    <p:extLst>
      <p:ext uri="{BB962C8B-B14F-4D97-AF65-F5344CB8AC3E}">
        <p14:creationId xmlns:p14="http://schemas.microsoft.com/office/powerpoint/2010/main" val="1565954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BE348-F564-F176-4593-7EDBA6D82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3FCDF-4A78-F57F-035E-840B24CA610F}"/>
              </a:ext>
            </a:extLst>
          </p:cNvPr>
          <p:cNvSpPr>
            <a:spLocks noGrp="1"/>
          </p:cNvSpPr>
          <p:nvPr>
            <p:ph type="title"/>
          </p:nvPr>
        </p:nvSpPr>
        <p:spPr/>
        <p:txBody>
          <a:bodyPr/>
          <a:lstStyle/>
          <a:p>
            <a:r>
              <a:rPr lang="en-US" dirty="0"/>
              <a:t>3.2 Combining Multiple Signals</a:t>
            </a:r>
          </a:p>
        </p:txBody>
      </p:sp>
      <p:sp>
        <p:nvSpPr>
          <p:cNvPr id="3" name="Content Placeholder 2">
            <a:extLst>
              <a:ext uri="{FF2B5EF4-FFF2-40B4-BE49-F238E27FC236}">
                <a16:creationId xmlns:a16="http://schemas.microsoft.com/office/drawing/2014/main" id="{DA5C640D-C19F-BC40-5BDF-27822AF56932}"/>
              </a:ext>
            </a:extLst>
          </p:cNvPr>
          <p:cNvSpPr>
            <a:spLocks noGrp="1"/>
          </p:cNvSpPr>
          <p:nvPr>
            <p:ph idx="1"/>
          </p:nvPr>
        </p:nvSpPr>
        <p:spPr/>
        <p:txBody>
          <a:bodyPr/>
          <a:lstStyle/>
          <a:p>
            <a:pPr marL="0" indent="0">
              <a:buNone/>
            </a:pPr>
            <a:r>
              <a:rPr lang="en-US" b="1" dirty="0"/>
              <a:t>Best feature (highest AUPRC): </a:t>
            </a:r>
          </a:p>
          <a:p>
            <a:pPr marL="0" indent="0">
              <a:buNone/>
            </a:pPr>
            <a:r>
              <a:rPr lang="en-US" dirty="0"/>
              <a:t>Mean of the k lowest token log probabilities</a:t>
            </a:r>
          </a:p>
        </p:txBody>
      </p:sp>
      <p:pic>
        <p:nvPicPr>
          <p:cNvPr id="4" name="Picture 3">
            <a:extLst>
              <a:ext uri="{FF2B5EF4-FFF2-40B4-BE49-F238E27FC236}">
                <a16:creationId xmlns:a16="http://schemas.microsoft.com/office/drawing/2014/main" id="{7892D182-8B71-15F0-A405-C5483A8DDCC7}"/>
              </a:ext>
            </a:extLst>
          </p:cNvPr>
          <p:cNvPicPr>
            <a:picLocks noChangeAspect="1"/>
          </p:cNvPicPr>
          <p:nvPr/>
        </p:nvPicPr>
        <p:blipFill>
          <a:blip r:embed="rId2"/>
          <a:stretch>
            <a:fillRect/>
          </a:stretch>
        </p:blipFill>
        <p:spPr>
          <a:xfrm>
            <a:off x="2209800" y="2540000"/>
            <a:ext cx="7772400" cy="4318000"/>
          </a:xfrm>
          <a:prstGeom prst="rect">
            <a:avLst/>
          </a:prstGeom>
        </p:spPr>
      </p:pic>
    </p:spTree>
    <p:extLst>
      <p:ext uri="{BB962C8B-B14F-4D97-AF65-F5344CB8AC3E}">
        <p14:creationId xmlns:p14="http://schemas.microsoft.com/office/powerpoint/2010/main" val="31656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17835-1FC5-81B9-0382-873B2E1E3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5B121-22B9-8BBA-5757-E833597C0B44}"/>
              </a:ext>
            </a:extLst>
          </p:cNvPr>
          <p:cNvSpPr>
            <a:spLocks noGrp="1"/>
          </p:cNvSpPr>
          <p:nvPr>
            <p:ph type="title"/>
          </p:nvPr>
        </p:nvSpPr>
        <p:spPr/>
        <p:txBody>
          <a:bodyPr/>
          <a:lstStyle/>
          <a:p>
            <a:r>
              <a:rPr lang="en-US" dirty="0"/>
              <a:t>3.2 Combining Multiple Signals</a:t>
            </a:r>
          </a:p>
        </p:txBody>
      </p:sp>
      <p:sp>
        <p:nvSpPr>
          <p:cNvPr id="3" name="Content Placeholder 2">
            <a:extLst>
              <a:ext uri="{FF2B5EF4-FFF2-40B4-BE49-F238E27FC236}">
                <a16:creationId xmlns:a16="http://schemas.microsoft.com/office/drawing/2014/main" id="{9EB9BB8B-B556-4602-17D8-85CAD544310D}"/>
              </a:ext>
            </a:extLst>
          </p:cNvPr>
          <p:cNvSpPr>
            <a:spLocks noGrp="1"/>
          </p:cNvSpPr>
          <p:nvPr>
            <p:ph idx="1"/>
          </p:nvPr>
        </p:nvSpPr>
        <p:spPr/>
        <p:txBody>
          <a:bodyPr/>
          <a:lstStyle/>
          <a:p>
            <a:pPr marL="0" indent="0">
              <a:buNone/>
            </a:pPr>
            <a:r>
              <a:rPr lang="en-US" b="1" dirty="0"/>
              <a:t>Best complementary feature (improving AUPRC): </a:t>
            </a:r>
          </a:p>
          <a:p>
            <a:pPr marL="0" indent="0">
              <a:buNone/>
            </a:pPr>
            <a:r>
              <a:rPr lang="en-US" dirty="0"/>
              <a:t>Mean ROUGE-L F1 for noise perturbations</a:t>
            </a:r>
          </a:p>
        </p:txBody>
      </p:sp>
      <p:pic>
        <p:nvPicPr>
          <p:cNvPr id="7" name="Picture 6">
            <a:extLst>
              <a:ext uri="{FF2B5EF4-FFF2-40B4-BE49-F238E27FC236}">
                <a16:creationId xmlns:a16="http://schemas.microsoft.com/office/drawing/2014/main" id="{6A93C8C3-C377-851E-BBFE-F538291A3318}"/>
              </a:ext>
            </a:extLst>
          </p:cNvPr>
          <p:cNvPicPr>
            <a:picLocks noChangeAspect="1"/>
          </p:cNvPicPr>
          <p:nvPr/>
        </p:nvPicPr>
        <p:blipFill>
          <a:blip r:embed="rId2"/>
          <a:stretch>
            <a:fillRect/>
          </a:stretch>
        </p:blipFill>
        <p:spPr>
          <a:xfrm>
            <a:off x="2209800" y="2485539"/>
            <a:ext cx="7772400" cy="4318000"/>
          </a:xfrm>
          <a:prstGeom prst="rect">
            <a:avLst/>
          </a:prstGeom>
        </p:spPr>
      </p:pic>
    </p:spTree>
    <p:extLst>
      <p:ext uri="{BB962C8B-B14F-4D97-AF65-F5344CB8AC3E}">
        <p14:creationId xmlns:p14="http://schemas.microsoft.com/office/powerpoint/2010/main" val="3400081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6E14A-A258-BBC4-1247-B1C39B8FDC8D}"/>
              </a:ext>
            </a:extLst>
          </p:cNvPr>
          <p:cNvSpPr>
            <a:spLocks noGrp="1"/>
          </p:cNvSpPr>
          <p:nvPr>
            <p:ph type="title"/>
          </p:nvPr>
        </p:nvSpPr>
        <p:spPr/>
        <p:txBody>
          <a:bodyPr/>
          <a:lstStyle/>
          <a:p>
            <a:r>
              <a:rPr lang="en-US" dirty="0"/>
              <a:t>3.3 Confidence Evaluation</a:t>
            </a:r>
          </a:p>
        </p:txBody>
      </p:sp>
      <p:pic>
        <p:nvPicPr>
          <p:cNvPr id="7" name="Picture 6">
            <a:extLst>
              <a:ext uri="{FF2B5EF4-FFF2-40B4-BE49-F238E27FC236}">
                <a16:creationId xmlns:a16="http://schemas.microsoft.com/office/drawing/2014/main" id="{795E688C-9D04-C15D-6909-D875FAC6A8AB}"/>
              </a:ext>
            </a:extLst>
          </p:cNvPr>
          <p:cNvPicPr>
            <a:picLocks noChangeAspect="1"/>
          </p:cNvPicPr>
          <p:nvPr/>
        </p:nvPicPr>
        <p:blipFill>
          <a:blip r:embed="rId2"/>
          <a:stretch>
            <a:fillRect/>
          </a:stretch>
        </p:blipFill>
        <p:spPr>
          <a:xfrm>
            <a:off x="2209800" y="2540000"/>
            <a:ext cx="7772400" cy="4318000"/>
          </a:xfrm>
          <a:prstGeom prst="rect">
            <a:avLst/>
          </a:prstGeom>
        </p:spPr>
      </p:pic>
      <p:sp>
        <p:nvSpPr>
          <p:cNvPr id="8" name="Content Placeholder 2">
            <a:extLst>
              <a:ext uri="{FF2B5EF4-FFF2-40B4-BE49-F238E27FC236}">
                <a16:creationId xmlns:a16="http://schemas.microsoft.com/office/drawing/2014/main" id="{C0C34B2B-FABA-D56A-E10D-F1617CB8DA76}"/>
              </a:ext>
            </a:extLst>
          </p:cNvPr>
          <p:cNvSpPr>
            <a:spLocks noGrp="1"/>
          </p:cNvSpPr>
          <p:nvPr>
            <p:ph idx="1"/>
          </p:nvPr>
        </p:nvSpPr>
        <p:spPr>
          <a:xfrm>
            <a:off x="312421" y="1424540"/>
            <a:ext cx="11567160" cy="4752424"/>
          </a:xfrm>
        </p:spPr>
        <p:txBody>
          <a:bodyPr/>
          <a:lstStyle/>
          <a:p>
            <a:pPr marL="0" indent="0">
              <a:buNone/>
            </a:pPr>
            <a:r>
              <a:rPr lang="en-US" b="1" dirty="0"/>
              <a:t>Logistic regression classifier using two best features calibrated using 5-fold cross-validation</a:t>
            </a:r>
          </a:p>
        </p:txBody>
      </p:sp>
    </p:spTree>
    <p:extLst>
      <p:ext uri="{BB962C8B-B14F-4D97-AF65-F5344CB8AC3E}">
        <p14:creationId xmlns:p14="http://schemas.microsoft.com/office/powerpoint/2010/main" val="4157386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BB63F-37E9-A7A7-FD77-345AD0315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B77ED-E1B3-0265-27AC-D080E8A619DF}"/>
              </a:ext>
            </a:extLst>
          </p:cNvPr>
          <p:cNvSpPr>
            <a:spLocks noGrp="1"/>
          </p:cNvSpPr>
          <p:nvPr>
            <p:ph type="title"/>
          </p:nvPr>
        </p:nvSpPr>
        <p:spPr/>
        <p:txBody>
          <a:bodyPr/>
          <a:lstStyle/>
          <a:p>
            <a:r>
              <a:rPr lang="en-US" dirty="0"/>
              <a:t>3.3 Confidence Evaluation</a:t>
            </a:r>
          </a:p>
        </p:txBody>
      </p:sp>
      <p:sp>
        <p:nvSpPr>
          <p:cNvPr id="8" name="Content Placeholder 2">
            <a:extLst>
              <a:ext uri="{FF2B5EF4-FFF2-40B4-BE49-F238E27FC236}">
                <a16:creationId xmlns:a16="http://schemas.microsoft.com/office/drawing/2014/main" id="{1A465EFE-F827-67B6-64E2-2D822718E637}"/>
              </a:ext>
            </a:extLst>
          </p:cNvPr>
          <p:cNvSpPr>
            <a:spLocks noGrp="1"/>
          </p:cNvSpPr>
          <p:nvPr>
            <p:ph idx="1"/>
          </p:nvPr>
        </p:nvSpPr>
        <p:spPr>
          <a:xfrm>
            <a:off x="312421" y="1424540"/>
            <a:ext cx="11567160" cy="4752424"/>
          </a:xfrm>
        </p:spPr>
        <p:txBody>
          <a:bodyPr/>
          <a:lstStyle/>
          <a:p>
            <a:pPr marL="0" indent="0">
              <a:buNone/>
            </a:pPr>
            <a:r>
              <a:rPr lang="en-US" b="1" dirty="0"/>
              <a:t>Logistic regression classifier using two best features calibrated using 5-fold cross-validation</a:t>
            </a:r>
          </a:p>
        </p:txBody>
      </p:sp>
      <p:pic>
        <p:nvPicPr>
          <p:cNvPr id="6" name="Picture 5">
            <a:extLst>
              <a:ext uri="{FF2B5EF4-FFF2-40B4-BE49-F238E27FC236}">
                <a16:creationId xmlns:a16="http://schemas.microsoft.com/office/drawing/2014/main" id="{4A4C056C-A121-6DC2-B21C-40EBF92EA26E}"/>
              </a:ext>
            </a:extLst>
          </p:cNvPr>
          <p:cNvPicPr>
            <a:picLocks noChangeAspect="1"/>
          </p:cNvPicPr>
          <p:nvPr/>
        </p:nvPicPr>
        <p:blipFill>
          <a:blip r:embed="rId2"/>
          <a:stretch>
            <a:fillRect/>
          </a:stretch>
        </p:blipFill>
        <p:spPr>
          <a:xfrm>
            <a:off x="2209800" y="2540000"/>
            <a:ext cx="7772400" cy="4318000"/>
          </a:xfrm>
          <a:prstGeom prst="rect">
            <a:avLst/>
          </a:prstGeom>
        </p:spPr>
      </p:pic>
    </p:spTree>
    <p:extLst>
      <p:ext uri="{BB962C8B-B14F-4D97-AF65-F5344CB8AC3E}">
        <p14:creationId xmlns:p14="http://schemas.microsoft.com/office/powerpoint/2010/main" val="729957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60B8-0EC0-8134-107B-B5C631AC4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2BFDE-AEEB-3A3F-E912-D0675401FB1E}"/>
              </a:ext>
            </a:extLst>
          </p:cNvPr>
          <p:cNvSpPr>
            <a:spLocks noGrp="1"/>
          </p:cNvSpPr>
          <p:nvPr>
            <p:ph type="title"/>
          </p:nvPr>
        </p:nvSpPr>
        <p:spPr/>
        <p:txBody>
          <a:bodyPr/>
          <a:lstStyle/>
          <a:p>
            <a:r>
              <a:rPr lang="en-US" dirty="0"/>
              <a:t>3.3 Confidence Evaluation</a:t>
            </a:r>
          </a:p>
        </p:txBody>
      </p:sp>
      <p:sp>
        <p:nvSpPr>
          <p:cNvPr id="8" name="Content Placeholder 2">
            <a:extLst>
              <a:ext uri="{FF2B5EF4-FFF2-40B4-BE49-F238E27FC236}">
                <a16:creationId xmlns:a16="http://schemas.microsoft.com/office/drawing/2014/main" id="{FA4715D0-F7DC-59BF-B7A5-58118F5208A2}"/>
              </a:ext>
            </a:extLst>
          </p:cNvPr>
          <p:cNvSpPr>
            <a:spLocks noGrp="1"/>
          </p:cNvSpPr>
          <p:nvPr>
            <p:ph idx="1"/>
          </p:nvPr>
        </p:nvSpPr>
        <p:spPr>
          <a:xfrm>
            <a:off x="312421" y="1424540"/>
            <a:ext cx="11567160" cy="4752424"/>
          </a:xfrm>
        </p:spPr>
        <p:txBody>
          <a:bodyPr/>
          <a:lstStyle/>
          <a:p>
            <a:pPr marL="0" indent="0">
              <a:buNone/>
            </a:pPr>
            <a:r>
              <a:rPr lang="en-US" b="1" dirty="0"/>
              <a:t>Logistic regression classifier using two best features calibrated using 5-fold cross-validation</a:t>
            </a:r>
          </a:p>
        </p:txBody>
      </p:sp>
      <p:pic>
        <p:nvPicPr>
          <p:cNvPr id="5" name="Picture 4">
            <a:extLst>
              <a:ext uri="{FF2B5EF4-FFF2-40B4-BE49-F238E27FC236}">
                <a16:creationId xmlns:a16="http://schemas.microsoft.com/office/drawing/2014/main" id="{DEBDC6DF-B85D-6B2C-F496-965D5E2B762A}"/>
              </a:ext>
            </a:extLst>
          </p:cNvPr>
          <p:cNvPicPr>
            <a:picLocks noChangeAspect="1"/>
          </p:cNvPicPr>
          <p:nvPr/>
        </p:nvPicPr>
        <p:blipFill>
          <a:blip r:embed="rId2"/>
          <a:stretch>
            <a:fillRect/>
          </a:stretch>
        </p:blipFill>
        <p:spPr>
          <a:xfrm>
            <a:off x="2209800" y="2540000"/>
            <a:ext cx="7772400" cy="4318000"/>
          </a:xfrm>
          <a:prstGeom prst="rect">
            <a:avLst/>
          </a:prstGeom>
        </p:spPr>
      </p:pic>
    </p:spTree>
    <p:extLst>
      <p:ext uri="{BB962C8B-B14F-4D97-AF65-F5344CB8AC3E}">
        <p14:creationId xmlns:p14="http://schemas.microsoft.com/office/powerpoint/2010/main" val="898029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1754-1E21-FA3A-70B5-BC897264FDD4}"/>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2D7F7898-3BC4-B0AE-16D3-52A522F13457}"/>
              </a:ext>
            </a:extLst>
          </p:cNvPr>
          <p:cNvSpPr>
            <a:spLocks noGrp="1"/>
          </p:cNvSpPr>
          <p:nvPr>
            <p:ph idx="1"/>
          </p:nvPr>
        </p:nvSpPr>
        <p:spPr/>
        <p:txBody>
          <a:bodyPr/>
          <a:lstStyle/>
          <a:p>
            <a:pPr marL="514350" indent="-514350">
              <a:buFont typeface="+mj-lt"/>
              <a:buAutoNum type="alphaUcPeriod"/>
            </a:pPr>
            <a:r>
              <a:rPr lang="en-US" dirty="0"/>
              <a:t>Improve logit-based metrics</a:t>
            </a:r>
          </a:p>
          <a:p>
            <a:pPr marL="514350" indent="-514350">
              <a:buFont typeface="+mj-lt"/>
              <a:buAutoNum type="alphaUcPeriod"/>
            </a:pPr>
            <a:r>
              <a:rPr lang="en-US" dirty="0"/>
              <a:t>Improve consistency under input perturbation metrics</a:t>
            </a:r>
          </a:p>
          <a:p>
            <a:pPr marL="514350" indent="-514350">
              <a:buFont typeface="+mj-lt"/>
              <a:buAutoNum type="alphaUcPeriod"/>
            </a:pPr>
            <a:r>
              <a:rPr lang="en-US" dirty="0"/>
              <a:t>Improve consistency under temperature sampling metrics</a:t>
            </a:r>
          </a:p>
          <a:p>
            <a:pPr marL="514350" indent="-514350">
              <a:buFont typeface="+mj-lt"/>
              <a:buAutoNum type="alphaUcPeriod"/>
            </a:pPr>
            <a:r>
              <a:rPr lang="en-US" dirty="0"/>
              <a:t>Implement other methods to obtain confidence information</a:t>
            </a:r>
          </a:p>
          <a:p>
            <a:pPr marL="514350" indent="-514350">
              <a:buFont typeface="+mj-lt"/>
              <a:buAutoNum type="alphaUcPeriod"/>
            </a:pPr>
            <a:r>
              <a:rPr lang="en-US" dirty="0"/>
              <a:t>Perform more involved multi-signal calibration</a:t>
            </a:r>
          </a:p>
          <a:p>
            <a:pPr marL="514350" indent="-514350">
              <a:buFont typeface="+mj-lt"/>
              <a:buAutoNum type="alphaUcPeriod"/>
            </a:pPr>
            <a:r>
              <a:rPr lang="en-US" dirty="0"/>
              <a:t>Perform more rigorous evaluation of confidence scores</a:t>
            </a:r>
          </a:p>
          <a:p>
            <a:pPr marL="514350" indent="-514350">
              <a:buFont typeface="+mj-lt"/>
              <a:buAutoNum type="alphaUcPeriod"/>
            </a:pPr>
            <a:r>
              <a:rPr lang="en-US" dirty="0"/>
              <a:t>Explore and evaluate methods for integrating confidence information into the radiologist-support platform</a:t>
            </a:r>
          </a:p>
          <a:p>
            <a:pPr marL="514350" indent="-514350">
              <a:buFont typeface="+mj-lt"/>
              <a:buAutoNum type="alphaUcPeriod"/>
            </a:pPr>
            <a:endParaRPr lang="en-US" dirty="0"/>
          </a:p>
          <a:p>
            <a:pPr marL="514350" indent="-514350">
              <a:buFont typeface="+mj-lt"/>
              <a:buAutoNum type="alphaUcPeriod"/>
            </a:pPr>
            <a:endParaRPr lang="en-US" dirty="0"/>
          </a:p>
        </p:txBody>
      </p:sp>
    </p:spTree>
    <p:extLst>
      <p:ext uri="{BB962C8B-B14F-4D97-AF65-F5344CB8AC3E}">
        <p14:creationId xmlns:p14="http://schemas.microsoft.com/office/powerpoint/2010/main" val="1066326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4B08-FD9D-C267-9959-6A1C81F7C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C4C92-BBCA-3445-81DD-10332F4D1BF9}"/>
              </a:ext>
            </a:extLst>
          </p:cNvPr>
          <p:cNvSpPr>
            <a:spLocks noGrp="1"/>
          </p:cNvSpPr>
          <p:nvPr>
            <p:ph type="title"/>
          </p:nvPr>
        </p:nvSpPr>
        <p:spPr/>
        <p:txBody>
          <a:bodyPr/>
          <a:lstStyle/>
          <a:p>
            <a:r>
              <a:rPr lang="en-US" dirty="0"/>
              <a:t>A. Improve logit-based metrics</a:t>
            </a:r>
          </a:p>
        </p:txBody>
      </p:sp>
      <p:sp>
        <p:nvSpPr>
          <p:cNvPr id="3" name="Content Placeholder 2">
            <a:extLst>
              <a:ext uri="{FF2B5EF4-FFF2-40B4-BE49-F238E27FC236}">
                <a16:creationId xmlns:a16="http://schemas.microsoft.com/office/drawing/2014/main" id="{0C6980B3-23EC-56A0-9C3D-801A4B31301F}"/>
              </a:ext>
            </a:extLst>
          </p:cNvPr>
          <p:cNvSpPr>
            <a:spLocks noGrp="1"/>
          </p:cNvSpPr>
          <p:nvPr>
            <p:ph idx="1"/>
          </p:nvPr>
        </p:nvSpPr>
        <p:spPr/>
        <p:txBody>
          <a:bodyPr>
            <a:normAutofit/>
          </a:bodyPr>
          <a:lstStyle/>
          <a:p>
            <a:r>
              <a:rPr lang="en-US" dirty="0"/>
              <a:t>Test different values of k for mean top/bottom k sample metrics.</a:t>
            </a:r>
          </a:p>
          <a:p>
            <a:r>
              <a:rPr lang="en-US" dirty="0"/>
              <a:t>Test domain weighting for mean top/bottom k sample metrics.</a:t>
            </a:r>
          </a:p>
          <a:p>
            <a:r>
              <a:rPr lang="en-US" dirty="0"/>
              <a:t>Consider the use of other lexicons for domain weighting.</a:t>
            </a:r>
          </a:p>
          <a:p>
            <a:r>
              <a:rPr lang="en-US" dirty="0"/>
              <a:t>Learn the weighting function using a small probe.</a:t>
            </a:r>
          </a:p>
          <a:p>
            <a:r>
              <a:rPr lang="en-US" dirty="0"/>
              <a:t>Investigate whether per-sentence or per-finding aggregation outperforms per-token aggregation.</a:t>
            </a:r>
          </a:p>
          <a:p>
            <a:r>
              <a:rPr lang="en-US" dirty="0"/>
              <a:t>(Not immediate) Calibrate log probabilities more during training.</a:t>
            </a:r>
          </a:p>
        </p:txBody>
      </p:sp>
    </p:spTree>
    <p:extLst>
      <p:ext uri="{BB962C8B-B14F-4D97-AF65-F5344CB8AC3E}">
        <p14:creationId xmlns:p14="http://schemas.microsoft.com/office/powerpoint/2010/main" val="1875035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9FBD-75A5-D25B-9D6E-C2250A644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47CFA-9A50-DE2D-2BF0-874E66871567}"/>
              </a:ext>
            </a:extLst>
          </p:cNvPr>
          <p:cNvSpPr>
            <a:spLocks noGrp="1"/>
          </p:cNvSpPr>
          <p:nvPr>
            <p:ph type="title"/>
          </p:nvPr>
        </p:nvSpPr>
        <p:spPr/>
        <p:txBody>
          <a:bodyPr>
            <a:normAutofit fontScale="90000"/>
          </a:bodyPr>
          <a:lstStyle/>
          <a:p>
            <a:r>
              <a:rPr lang="en-US" dirty="0"/>
              <a:t>B. Improve consistency under input perturbation metrics</a:t>
            </a:r>
          </a:p>
        </p:txBody>
      </p:sp>
      <p:sp>
        <p:nvSpPr>
          <p:cNvPr id="3" name="Content Placeholder 2">
            <a:extLst>
              <a:ext uri="{FF2B5EF4-FFF2-40B4-BE49-F238E27FC236}">
                <a16:creationId xmlns:a16="http://schemas.microsoft.com/office/drawing/2014/main" id="{F30D22CA-EF45-EF77-C2F6-495A7CFEE679}"/>
              </a:ext>
            </a:extLst>
          </p:cNvPr>
          <p:cNvSpPr>
            <a:spLocks noGrp="1"/>
          </p:cNvSpPr>
          <p:nvPr>
            <p:ph idx="1"/>
          </p:nvPr>
        </p:nvSpPr>
        <p:spPr/>
        <p:txBody>
          <a:bodyPr>
            <a:normAutofit/>
          </a:bodyPr>
          <a:lstStyle/>
          <a:p>
            <a:r>
              <a:rPr lang="en-US" dirty="0"/>
              <a:t>Consider other ways to measure extent of response change. </a:t>
            </a:r>
          </a:p>
          <a:p>
            <a:r>
              <a:rPr lang="en-US" dirty="0"/>
              <a:t>Apply more natural variations to inputs that reflect realistic scanner variability.</a:t>
            </a:r>
          </a:p>
          <a:p>
            <a:r>
              <a:rPr lang="en-US" dirty="0"/>
              <a:t>Selectively mask or occlude anatomical regions and measure whether/how the report changes for that finding specifically.</a:t>
            </a:r>
          </a:p>
          <a:p>
            <a:r>
              <a:rPr lang="en-US" dirty="0"/>
              <a:t>Increase the number of samples and test if performance is affected. </a:t>
            </a:r>
          </a:p>
          <a:p>
            <a:pPr lvl="1"/>
            <a:r>
              <a:rPr lang="en-US" dirty="0"/>
              <a:t>Also evaluate how much this affects computation time.</a:t>
            </a:r>
          </a:p>
        </p:txBody>
      </p:sp>
    </p:spTree>
    <p:extLst>
      <p:ext uri="{BB962C8B-B14F-4D97-AF65-F5344CB8AC3E}">
        <p14:creationId xmlns:p14="http://schemas.microsoft.com/office/powerpoint/2010/main" val="3934365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FAD7-F20B-66F6-8EDC-33AAF3462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C7958-2D84-A108-9E49-981DB1867510}"/>
              </a:ext>
            </a:extLst>
          </p:cNvPr>
          <p:cNvSpPr>
            <a:spLocks noGrp="1"/>
          </p:cNvSpPr>
          <p:nvPr>
            <p:ph type="title"/>
          </p:nvPr>
        </p:nvSpPr>
        <p:spPr/>
        <p:txBody>
          <a:bodyPr>
            <a:normAutofit fontScale="90000"/>
          </a:bodyPr>
          <a:lstStyle/>
          <a:p>
            <a:r>
              <a:rPr lang="en-US" dirty="0"/>
              <a:t>C. Improve consistency under temperature sampling metrics</a:t>
            </a:r>
          </a:p>
        </p:txBody>
      </p:sp>
      <p:sp>
        <p:nvSpPr>
          <p:cNvPr id="3" name="Content Placeholder 2">
            <a:extLst>
              <a:ext uri="{FF2B5EF4-FFF2-40B4-BE49-F238E27FC236}">
                <a16:creationId xmlns:a16="http://schemas.microsoft.com/office/drawing/2014/main" id="{F30A830E-68B4-E2A8-950F-EEB5BDA4CF74}"/>
              </a:ext>
            </a:extLst>
          </p:cNvPr>
          <p:cNvSpPr>
            <a:spLocks noGrp="1"/>
          </p:cNvSpPr>
          <p:nvPr>
            <p:ph idx="1"/>
          </p:nvPr>
        </p:nvSpPr>
        <p:spPr/>
        <p:txBody>
          <a:bodyPr>
            <a:normAutofit/>
          </a:bodyPr>
          <a:lstStyle/>
          <a:p>
            <a:r>
              <a:rPr lang="en-US" dirty="0"/>
              <a:t>Consider other ways to measure extent of response change.</a:t>
            </a:r>
          </a:p>
          <a:p>
            <a:r>
              <a:rPr lang="en-US" dirty="0"/>
              <a:t>Evaluate whether sampling variance correlates with correctness across different temperature values. </a:t>
            </a:r>
          </a:p>
          <a:p>
            <a:pPr lvl="1"/>
            <a:r>
              <a:rPr lang="en-US" dirty="0"/>
              <a:t>We may also combine the scores produced at multiple temperature values.</a:t>
            </a:r>
          </a:p>
          <a:p>
            <a:r>
              <a:rPr lang="en-US" dirty="0"/>
              <a:t>Increase the number of samples and test if performance is affected.</a:t>
            </a:r>
          </a:p>
          <a:p>
            <a:pPr lvl="1"/>
            <a:r>
              <a:rPr lang="en-US" dirty="0"/>
              <a:t>Also evaluate how much this affects computation time.</a:t>
            </a:r>
          </a:p>
        </p:txBody>
      </p:sp>
    </p:spTree>
    <p:extLst>
      <p:ext uri="{BB962C8B-B14F-4D97-AF65-F5344CB8AC3E}">
        <p14:creationId xmlns:p14="http://schemas.microsoft.com/office/powerpoint/2010/main" val="3281864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7041-6799-942F-3487-B759D22DF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A1AC2-B7E2-C85F-DF15-55827FF5E0FC}"/>
              </a:ext>
            </a:extLst>
          </p:cNvPr>
          <p:cNvSpPr>
            <a:spLocks noGrp="1"/>
          </p:cNvSpPr>
          <p:nvPr>
            <p:ph type="title"/>
          </p:nvPr>
        </p:nvSpPr>
        <p:spPr/>
        <p:txBody>
          <a:bodyPr>
            <a:normAutofit fontScale="90000"/>
          </a:bodyPr>
          <a:lstStyle/>
          <a:p>
            <a:r>
              <a:rPr lang="en-US" dirty="0"/>
              <a:t>D. Implement other methods to obtain confidence information</a:t>
            </a:r>
          </a:p>
        </p:txBody>
      </p:sp>
      <p:sp>
        <p:nvSpPr>
          <p:cNvPr id="3" name="Content Placeholder 2">
            <a:extLst>
              <a:ext uri="{FF2B5EF4-FFF2-40B4-BE49-F238E27FC236}">
                <a16:creationId xmlns:a16="http://schemas.microsoft.com/office/drawing/2014/main" id="{4B0E0FA7-5B64-E5A0-F9C8-423DA273B591}"/>
              </a:ext>
            </a:extLst>
          </p:cNvPr>
          <p:cNvSpPr>
            <a:spLocks noGrp="1"/>
          </p:cNvSpPr>
          <p:nvPr>
            <p:ph idx="1"/>
          </p:nvPr>
        </p:nvSpPr>
        <p:spPr/>
        <p:txBody>
          <a:bodyPr>
            <a:normAutofit/>
          </a:bodyPr>
          <a:lstStyle/>
          <a:p>
            <a:r>
              <a:rPr lang="en-US" dirty="0"/>
              <a:t>With access to intermediate model representations, we could measure the similarity between the vision encoding of the input and the text encoding of the generated response to understand how well the response is anchored to the visual input.</a:t>
            </a:r>
          </a:p>
          <a:p>
            <a:r>
              <a:rPr lang="en-US" dirty="0"/>
              <a:t>With access to hidden states and a labelled training split, we could train a lightweight classifier on the model's internal states to predict whether a given response will be judged correct.</a:t>
            </a:r>
          </a:p>
          <a:p>
            <a:r>
              <a:rPr lang="en-US" dirty="0"/>
              <a:t>Eventually, we could also use explicit and implicit human feedback.</a:t>
            </a:r>
          </a:p>
        </p:txBody>
      </p:sp>
    </p:spTree>
    <p:extLst>
      <p:ext uri="{BB962C8B-B14F-4D97-AF65-F5344CB8AC3E}">
        <p14:creationId xmlns:p14="http://schemas.microsoft.com/office/powerpoint/2010/main" val="970708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1E657-2FC1-8EB5-845F-DE7E12BF1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584A6-4CA9-97B5-3A9C-C1298494465F}"/>
              </a:ext>
            </a:extLst>
          </p:cNvPr>
          <p:cNvSpPr>
            <a:spLocks noGrp="1"/>
          </p:cNvSpPr>
          <p:nvPr>
            <p:ph type="title"/>
          </p:nvPr>
        </p:nvSpPr>
        <p:spPr/>
        <p:txBody>
          <a:bodyPr>
            <a:normAutofit fontScale="90000"/>
          </a:bodyPr>
          <a:lstStyle/>
          <a:p>
            <a:r>
              <a:rPr lang="en-US" dirty="0"/>
              <a:t>E. Perform more involved multi-signal calibration</a:t>
            </a:r>
          </a:p>
        </p:txBody>
      </p:sp>
      <p:sp>
        <p:nvSpPr>
          <p:cNvPr id="3" name="Content Placeholder 2">
            <a:extLst>
              <a:ext uri="{FF2B5EF4-FFF2-40B4-BE49-F238E27FC236}">
                <a16:creationId xmlns:a16="http://schemas.microsoft.com/office/drawing/2014/main" id="{01269ADA-10D7-2711-B242-5C98A946E45A}"/>
              </a:ext>
            </a:extLst>
          </p:cNvPr>
          <p:cNvSpPr>
            <a:spLocks noGrp="1"/>
          </p:cNvSpPr>
          <p:nvPr>
            <p:ph idx="1"/>
          </p:nvPr>
        </p:nvSpPr>
        <p:spPr/>
        <p:txBody>
          <a:bodyPr>
            <a:normAutofit/>
          </a:bodyPr>
          <a:lstStyle/>
          <a:p>
            <a:r>
              <a:rPr lang="en-US" dirty="0"/>
              <a:t>Incorporate additional methods into the calibration step.</a:t>
            </a:r>
          </a:p>
          <a:p>
            <a:r>
              <a:rPr lang="en-US" dirty="0"/>
              <a:t>Explore other feature selection strategies, beyond forward greedy. </a:t>
            </a:r>
          </a:p>
          <a:p>
            <a:r>
              <a:rPr lang="en-US" dirty="0"/>
              <a:t>Calibrate with more data and evaluate on a dedicated test split.</a:t>
            </a:r>
          </a:p>
          <a:p>
            <a:r>
              <a:rPr lang="en-US" dirty="0"/>
              <a:t>Evaluate non-linear models as alternatives to logistic regression for combining signals.</a:t>
            </a:r>
          </a:p>
          <a:p>
            <a:r>
              <a:rPr lang="en-US" dirty="0"/>
              <a:t>Consider ensemble/mixture-of-experts approaches that combine categories of methods, potentially using a multi-step scheme.</a:t>
            </a:r>
          </a:p>
        </p:txBody>
      </p:sp>
    </p:spTree>
    <p:extLst>
      <p:ext uri="{BB962C8B-B14F-4D97-AF65-F5344CB8AC3E}">
        <p14:creationId xmlns:p14="http://schemas.microsoft.com/office/powerpoint/2010/main" val="1733324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1F3A5-8B38-9FA4-9545-4EF2A9DA0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61422-3A03-338B-E369-FC252AB88A18}"/>
              </a:ext>
            </a:extLst>
          </p:cNvPr>
          <p:cNvSpPr>
            <a:spLocks noGrp="1"/>
          </p:cNvSpPr>
          <p:nvPr>
            <p:ph type="title"/>
          </p:nvPr>
        </p:nvSpPr>
        <p:spPr/>
        <p:txBody>
          <a:bodyPr>
            <a:normAutofit fontScale="90000"/>
          </a:bodyPr>
          <a:lstStyle/>
          <a:p>
            <a:r>
              <a:rPr lang="en-US" dirty="0"/>
              <a:t>F. Perform more rigorous evaluation of confidence scores</a:t>
            </a:r>
          </a:p>
        </p:txBody>
      </p:sp>
      <p:sp>
        <p:nvSpPr>
          <p:cNvPr id="3" name="Content Placeholder 2">
            <a:extLst>
              <a:ext uri="{FF2B5EF4-FFF2-40B4-BE49-F238E27FC236}">
                <a16:creationId xmlns:a16="http://schemas.microsoft.com/office/drawing/2014/main" id="{78970E81-F589-562B-4A8F-7F48C0445185}"/>
              </a:ext>
            </a:extLst>
          </p:cNvPr>
          <p:cNvSpPr>
            <a:spLocks noGrp="1"/>
          </p:cNvSpPr>
          <p:nvPr>
            <p:ph idx="1"/>
          </p:nvPr>
        </p:nvSpPr>
        <p:spPr/>
        <p:txBody>
          <a:bodyPr>
            <a:normAutofit fontScale="92500"/>
          </a:bodyPr>
          <a:lstStyle/>
          <a:p>
            <a:r>
              <a:rPr lang="en-US" dirty="0"/>
              <a:t>After performing more involved calibration with additional data, evaluate how well the score is actually calibrated.</a:t>
            </a:r>
          </a:p>
          <a:p>
            <a:pPr lvl="1"/>
            <a:r>
              <a:rPr lang="en-US" dirty="0"/>
              <a:t>Brier score, Expected Calibration Error (ECE), reliability diagrams, etc.</a:t>
            </a:r>
          </a:p>
          <a:p>
            <a:r>
              <a:rPr lang="en-US" dirty="0"/>
              <a:t>Evaluate all methods in terms of performance and computational cost.</a:t>
            </a:r>
          </a:p>
          <a:p>
            <a:r>
              <a:rPr lang="en-US" dirty="0"/>
              <a:t>Understand how model performance varies across distributions of data and whether confidence estimates continue to provide a useful signal. </a:t>
            </a:r>
          </a:p>
          <a:p>
            <a:r>
              <a:rPr lang="en-US" dirty="0"/>
              <a:t>Design out-of-distribution (OOD) detection methods.</a:t>
            </a:r>
          </a:p>
          <a:p>
            <a:r>
              <a:rPr lang="en-US" dirty="0"/>
              <a:t>Utilize error breakdown provided by CRIMSON (or another LLM judge) to detect false findings or predict particular types of errors.</a:t>
            </a:r>
          </a:p>
          <a:p>
            <a:r>
              <a:rPr lang="en-US" dirty="0"/>
              <a:t>Evaluate how confidence estimation methods generalize across data modalities and different generative models.</a:t>
            </a:r>
          </a:p>
        </p:txBody>
      </p:sp>
    </p:spTree>
    <p:extLst>
      <p:ext uri="{BB962C8B-B14F-4D97-AF65-F5344CB8AC3E}">
        <p14:creationId xmlns:p14="http://schemas.microsoft.com/office/powerpoint/2010/main" val="9147991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d58ba64f-d959-49e0-88c5-e90a21e7344d"/>
  <p:tag name="SLIDO_EVENT_UUID" val="98b7f9fc-17fc-43ae-bc18-c0949d53dab7"/>
  <p:tag name="SLIDO_EVENT_SECTION_UUID" val="f0cc8491-47ef-46a1-8794-b65ef9e9d8ae"/>
</p:tagLst>
</file>

<file path=ppt/theme/theme1.xml><?xml version="1.0" encoding="utf-8"?>
<a:theme xmlns:a="http://schemas.openxmlformats.org/drawingml/2006/main" name="cs189-template-v2">
  <a:themeElements>
    <a:clrScheme name="Berkeley Colors">
      <a:dk1>
        <a:srgbClr val="000000"/>
      </a:dk1>
      <a:lt1>
        <a:srgbClr val="FFFFFF"/>
      </a:lt1>
      <a:dk2>
        <a:srgbClr val="000132"/>
      </a:dk2>
      <a:lt2>
        <a:srgbClr val="DDDDDD"/>
      </a:lt2>
      <a:accent1>
        <a:srgbClr val="002675"/>
      </a:accent1>
      <a:accent2>
        <a:srgbClr val="FDB515"/>
      </a:accent2>
      <a:accent3>
        <a:srgbClr val="028842"/>
      </a:accent3>
      <a:accent4>
        <a:srgbClr val="0049AD"/>
      </a:accent4>
      <a:accent5>
        <a:srgbClr val="8136C6"/>
      </a:accent5>
      <a:accent6>
        <a:srgbClr val="DF5327"/>
      </a:accent6>
      <a:hlink>
        <a:srgbClr val="8136C6"/>
      </a:hlink>
      <a:folHlink>
        <a:srgbClr val="770647"/>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cture 02 -- Using Machine Learning" id="{B36A73C9-A638-0A4C-8F40-74EBBA3C417E}" vid="{7C9CF238-600B-5140-95B4-D29472FA34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539CD58A90B4941A7D8FAE0C8A64E11" ma:contentTypeVersion="3" ma:contentTypeDescription="Create a new document." ma:contentTypeScope="" ma:versionID="06806a3f75a23b4b252b3271e2e167cd">
  <xsd:schema xmlns:xsd="http://www.w3.org/2001/XMLSchema" xmlns:xs="http://www.w3.org/2001/XMLSchema" xmlns:p="http://schemas.microsoft.com/office/2006/metadata/properties" xmlns:ns2="ccd22bf3-71b8-4332-a310-ec8ee691d727" targetNamespace="http://schemas.microsoft.com/office/2006/metadata/properties" ma:root="true" ma:fieldsID="c6a20c729128feca6f8ae86e9cea55fe" ns2:_="">
    <xsd:import namespace="ccd22bf3-71b8-4332-a310-ec8ee691d72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d22bf3-71b8-4332-a310-ec8ee691d7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8EE976-3127-4B4D-93AE-F27AF97E0658}">
  <ds:schemaRefs>
    <ds:schemaRef ds:uri="http://purl.org/dc/terms/"/>
    <ds:schemaRef ds:uri="ccd22bf3-71b8-4332-a310-ec8ee691d727"/>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9A23CB27-6F78-4145-87A5-695702FCD4D1}">
  <ds:schemaRefs>
    <ds:schemaRef ds:uri="ccd22bf3-71b8-4332-a310-ec8ee691d7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C84EDA4-11A9-491D-A3C5-75401FC2E61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10737</TotalTime>
  <Words>1408</Words>
  <Application>Microsoft Macintosh PowerPoint</Application>
  <PresentationFormat>Widescreen</PresentationFormat>
  <Paragraphs>154</Paragraphs>
  <Slides>27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Century Schoolbook</vt:lpstr>
      <vt:lpstr>cs189-template-v2</vt:lpstr>
      <vt:lpstr>Confidence Estimation for Radiology Report Generation</vt:lpstr>
      <vt:lpstr>1. Setup</vt:lpstr>
      <vt:lpstr>1. Setup</vt:lpstr>
      <vt:lpstr>1. Setup</vt:lpstr>
      <vt:lpstr>2. Sources of Confidence Information</vt:lpstr>
      <vt:lpstr>2. Sources of Confidence Information</vt:lpstr>
      <vt:lpstr>2.1 Logit-Based Confidence</vt:lpstr>
      <vt:lpstr>2.1 Logit-Based Confidence</vt:lpstr>
      <vt:lpstr>2.1 Logit-Based Confidence</vt:lpstr>
      <vt:lpstr>2.2 Consistency under Input Perturbation</vt:lpstr>
      <vt:lpstr>2.2 Consistency under Input Perturbation</vt:lpstr>
      <vt:lpstr>2.3 Consistency during Sampling</vt:lpstr>
      <vt:lpstr>2.3 Consistency during Sampling</vt:lpstr>
      <vt:lpstr>3. Confidence Calibration and Evaluation</vt:lpstr>
      <vt:lpstr>3.2 Combining Multiple Signals</vt:lpstr>
      <vt:lpstr>3.2 Combining Multiple Signals</vt:lpstr>
      <vt:lpstr>3.2 Combining Multiple Signals</vt:lpstr>
      <vt:lpstr>3.3 Confidence Evaluation</vt:lpstr>
      <vt:lpstr>3.3 Confidence Evaluation</vt:lpstr>
      <vt:lpstr>3.3 Confidence Evaluation</vt:lpstr>
      <vt:lpstr>Future Work</vt:lpstr>
      <vt:lpstr>A. Improve logit-based metrics</vt:lpstr>
      <vt:lpstr>B. Improve consistency under input perturbation metrics</vt:lpstr>
      <vt:lpstr>C. Improve consistency under temperature sampling metrics</vt:lpstr>
      <vt:lpstr>D. Implement other methods to obtain confidence information</vt:lpstr>
      <vt:lpstr>E. Perform more involved multi-signal calibration</vt:lpstr>
      <vt:lpstr>F. Perform more rigorous evaluation of confidence scores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Gonzalez</dc:creator>
  <cp:lastModifiedBy>Sara Pohland</cp:lastModifiedBy>
  <cp:revision>498</cp:revision>
  <cp:lastPrinted>2026-03-21T00:01:54Z</cp:lastPrinted>
  <dcterms:created xsi:type="dcterms:W3CDTF">2025-06-04T20:44:38Z</dcterms:created>
  <dcterms:modified xsi:type="dcterms:W3CDTF">2026-04-06T02:32:23Z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0x0101000539CD58A90B4941A7D8FAE0C8A64E11</vt:lpwstr>
  </property>
</Properties>
</file>